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00DDA57-8BD1-1616-DB58-33873F5841E7}">
          <p14:sldIdLst>
            <p14:sldId id="256"/>
            <p14:sldId id="257"/>
            <p14:sldId id="258"/>
          </p14:sldIdLst>
        </p14:section>
        <p14:section name="How it works" id="{FCA50F23-3354-A0B9-5D27-354345715945}">
          <p14:sldIdLst>
            <p14:sldId id="259"/>
            <p14:sldId id="260"/>
            <p14:sldId id="261"/>
            <p14:sldId id="262"/>
          </p14:sldIdLst>
        </p14:section>
        <p14:section name="Results" id="{DDC82EB5-8065-0B1D-0426-773DB5A52617}">
          <p14:sldIdLst>
            <p14:sldId id="263"/>
            <p14:sldId id="264"/>
            <p14:sldId id="265"/>
          </p14:sldIdLst>
        </p14:section>
        <p14:section name="Close" id="{10B02995-EB85-F76D-BC09-7C0D9A9F315A}">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49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200" b="0" i="0" u="none" strike="noStrike">
                <a:solidFill>
                  <a:srgbClr val="0E1A28"/>
                </a:solidFill>
                <a:latin typeface="+mn-lt"/>
              </a:defRPr>
            </a:pPr>
            <a:r>
              <a:rPr sz="1200" b="0" i="0" u="none" strike="noStrike">
                <a:solidFill>
                  <a:srgbClr val="0E1A28"/>
                </a:solidFill>
                <a:latin typeface="+mn-lt"/>
              </a:rPr>
              <a:t>Share of cases (%)</a:t>
            </a:r>
          </a:p>
        </c:rich>
      </c:tx>
      <c:overlay val="0"/>
    </c:title>
    <c:autoTitleDeleted val="0"/>
    <c:plotArea>
      <c:layout/>
      <c:barChart>
        <c:barDir val="bar"/>
        <c:grouping val="clustered"/>
        <c:varyColors val="0"/>
        <c:ser>
          <c:idx val="0"/>
          <c:order val="0"/>
          <c:tx>
            <c:strRef>
              <c:f>Sheet1!$B$1</c:f>
              <c:strCache>
                <c:ptCount val="1"/>
                <c:pt idx="0">
                  <c:v>Score (%)</c:v>
                </c:pt>
              </c:strCache>
            </c:strRef>
          </c:tx>
          <c:spPr>
            <a:solidFill>
              <a:srgbClr val="2B7A59"/>
            </a:solidFill>
            <a:effectLst/>
          </c:spPr>
          <c:invertIfNegative val="0"/>
          <c:dPt>
            <c:idx val="0"/>
            <c:invertIfNegative val="0"/>
            <c:bubble3D val="0"/>
          </c:dPt>
          <c:dPt>
            <c:idx val="1"/>
            <c:invertIfNegative val="0"/>
            <c:bubble3D val="0"/>
          </c:dPt>
          <c:dPt>
            <c:idx val="2"/>
            <c:invertIfNegative val="0"/>
            <c:bubble3D val="0"/>
            <c:spPr>
              <a:solidFill>
                <a:srgbClr val="1646C2"/>
              </a:solidFill>
              <a:effectLst/>
            </c:spPr>
          </c:dPt>
          <c:dPt>
            <c:idx val="3"/>
            <c:invertIfNegative val="0"/>
            <c:bubble3D val="0"/>
            <c:spPr>
              <a:solidFill>
                <a:srgbClr val="1646C2"/>
              </a:solidFill>
              <a:effectLst/>
            </c:spPr>
          </c:dPt>
          <c:dPt>
            <c:idx val="4"/>
            <c:invertIfNegative val="0"/>
            <c:bubble3D val="0"/>
            <c:spPr>
              <a:solidFill>
                <a:srgbClr val="5A6B7C"/>
              </a:solidFill>
              <a:effectLst/>
            </c:spPr>
          </c:dPt>
          <c:dPt>
            <c:idx val="5"/>
            <c:invertIfNegative val="0"/>
            <c:bubble3D val="0"/>
            <c:spPr>
              <a:solidFill>
                <a:srgbClr val="5A6B7C"/>
              </a:solidFill>
              <a:effectLst/>
            </c:spPr>
          </c:dPt>
          <c:dLbls>
            <c:numFmt formatCode="0.0" sourceLinked="0"/>
            <c:spPr>
              <a:noFill/>
              <a:ln>
                <a:noFill/>
              </a:ln>
              <a:effectLst/>
            </c:spPr>
            <c:txPr>
              <a:bodyPr/>
              <a:lstStyle/>
              <a:p>
                <a:pPr>
                  <a:defRPr sz="1100" b="0" i="0" u="none" strike="noStrike">
                    <a:solidFill>
                      <a:srgbClr val="0E1A2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Seeded defects found</c:v>
                </c:pt>
                <c:pt idx="1">
                  <c:v>Out-of-scope refused</c:v>
                </c:pt>
                <c:pt idx="2">
                  <c:v>Answers correct + cited</c:v>
                </c:pt>
                <c:pt idx="3">
                  <c:v>Citation accuracy</c:v>
                </c:pt>
                <c:pt idx="4">
                  <c:v>Search only, hit@3</c:v>
                </c:pt>
                <c:pt idx="5">
                  <c:v>Search only, hit@1</c:v>
                </c:pt>
              </c:strCache>
            </c:strRef>
          </c:cat>
          <c:val>
            <c:numRef>
              <c:f>Sheet1!$B$2:$B$7</c:f>
              <c:numCache>
                <c:formatCode>General</c:formatCode>
                <c:ptCount val="6"/>
                <c:pt idx="0">
                  <c:v>100</c:v>
                </c:pt>
                <c:pt idx="1">
                  <c:v>100</c:v>
                </c:pt>
                <c:pt idx="2">
                  <c:v>97.3</c:v>
                </c:pt>
                <c:pt idx="3">
                  <c:v>97.3</c:v>
                </c:pt>
                <c:pt idx="4">
                  <c:v>83.8</c:v>
                </c:pt>
                <c:pt idx="5">
                  <c:v>67.599999999999994</c:v>
                </c:pt>
              </c:numCache>
            </c:numRef>
          </c:val>
        </c:ser>
        <c:dLbls>
          <c:showLegendKey val="0"/>
          <c:showVal val="1"/>
          <c:showCatName val="0"/>
          <c:showSerName val="0"/>
          <c:showPercent val="0"/>
          <c:showBubbleSize val="0"/>
        </c:dLbls>
        <c:gapWidth val="150"/>
        <c:axId val="354501120"/>
        <c:axId val="290222568"/>
      </c:barChart>
      <c:catAx>
        <c:axId val="354501120"/>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E1A28"/>
                </a:solidFill>
                <a:latin typeface="+mn-lt"/>
              </a:defRPr>
            </a:pPr>
            <a:endParaRPr lang="en-US"/>
          </a:p>
        </c:txPr>
        <c:crossAx val="290222568"/>
        <c:crosses val="autoZero"/>
        <c:auto val="1"/>
        <c:lblAlgn val="ctr"/>
        <c:lblOffset val="100"/>
        <c:noMultiLvlLbl val="1"/>
      </c:catAx>
      <c:valAx>
        <c:axId val="290222568"/>
        <c:scaling>
          <c:orientation val="minMax"/>
          <c:max val="110"/>
          <c:min val="0"/>
        </c:scaling>
        <c:delete val="0"/>
        <c:axPos val="t"/>
        <c:majorGridlines>
          <c:spPr>
            <a:ln w="6350" cap="flat">
              <a:solidFill>
                <a:srgbClr val="D5DC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C"/>
                </a:solidFill>
                <a:latin typeface="+mn-lt"/>
              </a:defRPr>
            </a:pPr>
            <a:endParaRPr lang="en-US"/>
          </a:p>
        </c:txPr>
        <c:crossAx val="354501120"/>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799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[your name], PRN [your PRN]. My project is the HLD Assistant for case study CS1. It helps AUTOSAR architects ask questions about long design documents and get answers with the exact document, section and page as proof.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Architects read hundreds of pages of design PDFs by hand. That is slow, mismatches between documents are easy to miss, and knowledge stays with a few experts. This is the problem the project solves.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One: ask questions and get cited answers. Two: an automatic inventory of components, ports, interfaces and signals with a dependency map. Three: eleven checks that find inconsistencies. Four: comparison of two document revisions.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base is four synthetic AUTOSAR design PDFs in two projects. No real company data is used. Twelve defects are planted on purpose so I can measure whether the checks find them. Only approved versions are searched; older versions are marked superseded but kept for comparison.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sign in through a web page. A Python API handles login, roles and the audit log. Behind it are ingestion, extraction, the question answering engine, SQLite and a local vector store. Everything runs on one laptop with no cloud and no external API. A local language model through Ollama is optional and off by default.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indexing, done once per document: extract text, remove headers and footers, split by section, build the search index, extract entities and run the checks. Bottom row is answering: guard, route, collect evidence, compose, and finally human review.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goes through three stages. The guard refuses unknown identifiers and out-of-scope questions. The router uses a structured lookup for questions about producers, consumers, ports and impact, and hybrid search for everything else. The composer builds the answer only from evidence and tags every statement with a source. By default there is no language model, so the system cannot hallucinate.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Ask which components consume SIG_VehicleSpeed. Show the source tag, click it, and show the highlighted passage, the confidence meter and the grounding score. Then ask about SWC_AirbagCtrl and the capital of France to show that the system refuses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page shows the dependency map. Hover a component to highlight its links. The checks page lists findings with severity and evidence. For example SIG_VehicleSpeed is defined as uint16 kilometres per hour in one document and uint8 miles per hour in another. An architect confirms or rejects every finding, and the decision is saved.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with 43 questions: 27 direct, 10 paraphrased without identifiers, and 6 out of scope. 97.3 percent of answers were correct and cited, all out-of-scope questions were refused, and all 12 planted defects were found. Plain text search alone finds the right section first only 67.6 percent of the time, which is why the structured lookups matter. One question failed and I kept it: it is a paraphrase that word matching cannot understand. BGE embeddings are the planned fix. The data is synthetic and I wrote the questions, so the scores are optimistic. Seventeen automated tests pass.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AI. Answers are grounded in approved documents. Everything is local. Users have roles, each user sees only assigned projects, uploads are validated, and instruction-like text hidden in documents is blocked. Engineers approve every finding and answer, and all actions are logged.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limits: the documents are synthetic and follow one template, there is no OCR, my default embeddings match words rather than meaning, login is demo-grade, and Docker and the optional language model path were not fully tested. Next steps are BGE embeddings with FAISS and a re-ranker, real documents with an independent question set, OCR and diagram reading, and linking to safety and cybersecurity artifacts.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system gives cited answers from approved documents only, it builds an architecture inventory with checks and revision comparison, and I measured it honestly, including the failure.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A28"/>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2F7"/>
        </a:solidFill>
        <a:effectLst/>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marL="0" indent="0">
              <a:buNone/>
            </a:pPr>
            <a:r>
              <a:rPr lang="en-US" sz="1000" dirty="0">
                <a:solidFill>
                  <a:schemeClr val="accent6"/>
                </a:solidFill>
              </a:rPr>
              <a:t>HLD Assistant  |  TechPulse FY-26  |  CS1</a:t>
            </a:r>
            <a:endParaRPr lang="en-US" sz="1000" dirty="0"/>
          </a:p>
        </p:txBody>
      </p:sp>
      <p:sp>
        <p:nvSpPr>
          <p:cNvPr id="3" name="Text 1"/>
          <p:cNvSpPr>
            <a:spLocks noGrp="1"/>
          </p:cNvSpPr>
          <p:nvPr>
            <p:ph type="title" idx="101" hasCustomPrompt="1"/>
          </p:nvPr>
        </p:nvSpPr>
        <p:spPr>
          <a:xfrm>
            <a:off x="457200" y="274320"/>
            <a:ext cx="8229600" cy="68580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640080" y="1097280"/>
            <a:ext cx="5120640" cy="91440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HLD Assistant</a:t>
            </a:r>
            <a:endParaRPr lang="en-US" sz="5400" dirty="0"/>
          </a:p>
        </p:txBody>
      </p:sp>
      <p:sp>
        <p:nvSpPr>
          <p:cNvPr id="3" name="Subtitle"/>
          <p:cNvSpPr txBox="1"/>
          <p:nvPr/>
        </p:nvSpPr>
        <p:spPr>
          <a:xfrm>
            <a:off x="640080" y="2103120"/>
            <a:ext cx="4754880" cy="822960"/>
          </a:xfrm>
          <a:prstGeom prst="rect">
            <a:avLst/>
          </a:prstGeom>
          <a:noFill/>
          <a:ln/>
        </p:spPr>
        <p:txBody>
          <a:bodyPr wrap="square" lIns="0" tIns="0" rIns="0" bIns="0" rtlCol="0" anchor="ctr"/>
          <a:lstStyle/>
          <a:p>
            <a:pPr marL="0" indent="0">
              <a:buNone/>
            </a:pPr>
            <a:r>
              <a:rPr lang="en-US" sz="2000" dirty="0">
                <a:solidFill>
                  <a:schemeClr val="bg2"/>
                </a:solidFill>
              </a:rPr>
              <a:t>Ask AUTOSAR design documents. Get answers with sources.</a:t>
            </a:r>
            <a:endParaRPr lang="en-US" sz="2000" dirty="0"/>
          </a:p>
        </p:txBody>
      </p:sp>
      <p:sp>
        <p:nvSpPr>
          <p:cNvPr id="4" name="Programme"/>
          <p:cNvSpPr txBox="1"/>
          <p:nvPr/>
        </p:nvSpPr>
        <p:spPr>
          <a:xfrm>
            <a:off x="640080" y="3246120"/>
            <a:ext cx="5120640" cy="274320"/>
          </a:xfrm>
          <a:prstGeom prst="rect">
            <a:avLst/>
          </a:prstGeom>
          <a:noFill/>
          <a:ln/>
        </p:spPr>
        <p:txBody>
          <a:bodyPr wrap="square" lIns="0" tIns="0" rIns="0" bIns="0" rtlCol="0" anchor="ctr"/>
          <a:lstStyle/>
          <a:p>
            <a:pPr marL="0" indent="0">
              <a:buNone/>
            </a:pPr>
            <a:r>
              <a:rPr lang="en-US" sz="1400" dirty="0">
                <a:solidFill>
                  <a:schemeClr val="bg2"/>
                </a:solidFill>
              </a:rPr>
              <a:t>TechPulse FY-26  |  Applied AI/ML Capstone  |  Case Study CS1</a:t>
            </a:r>
            <a:endParaRPr lang="en-US" sz="1400" dirty="0"/>
          </a:p>
        </p:txBody>
      </p:sp>
      <p:sp>
        <p:nvSpPr>
          <p:cNvPr id="5" name="Student"/>
          <p:cNvSpPr txBox="1"/>
          <p:nvPr/>
        </p:nvSpPr>
        <p:spPr>
          <a:xfrm>
            <a:off x="640080" y="3611880"/>
            <a:ext cx="5120640" cy="274320"/>
          </a:xfrm>
          <a:prstGeom prst="rect">
            <a:avLst/>
          </a:prstGeom>
          <a:noFill/>
          <a:ln/>
        </p:spPr>
        <p:txBody>
          <a:bodyPr wrap="square" lIns="0" tIns="0" rIns="0" bIns="0" rtlCol="0" anchor="ctr"/>
          <a:lstStyle/>
          <a:p>
            <a:pPr marL="0" indent="0">
              <a:buNone/>
            </a:pPr>
            <a:r>
              <a:rPr lang="en-US" sz="1400" b="1" dirty="0">
                <a:solidFill>
                  <a:schemeClr val="accent1"/>
                </a:solidFill>
              </a:rPr>
              <a:t>Student: </a:t>
            </a:r>
            <a:r>
              <a:rPr lang="en-US" sz="1400" b="1" dirty="0" err="1" smtClean="0">
                <a:solidFill>
                  <a:schemeClr val="accent1"/>
                </a:solidFill>
              </a:rPr>
              <a:t>Yadnesh</a:t>
            </a:r>
            <a:r>
              <a:rPr lang="en-US" sz="1400" b="1" dirty="0" smtClean="0">
                <a:solidFill>
                  <a:schemeClr val="accent1"/>
                </a:solidFill>
              </a:rPr>
              <a:t> </a:t>
            </a:r>
            <a:r>
              <a:rPr lang="en-US" sz="1400" b="1" dirty="0" err="1" smtClean="0">
                <a:solidFill>
                  <a:schemeClr val="accent1"/>
                </a:solidFill>
              </a:rPr>
              <a:t>Patil</a:t>
            </a:r>
            <a:r>
              <a:rPr lang="en-US" sz="1400" b="1" dirty="0" smtClean="0">
                <a:solidFill>
                  <a:schemeClr val="accent1"/>
                </a:solidFill>
              </a:rPr>
              <a:t>   </a:t>
            </a:r>
            <a:r>
              <a:rPr lang="en-US" sz="1400" b="1" dirty="0">
                <a:solidFill>
                  <a:schemeClr val="accent1"/>
                </a:solidFill>
              </a:rPr>
              <a:t>|   PRN: </a:t>
            </a:r>
            <a:r>
              <a:rPr lang="en-US" sz="1400" b="1" dirty="0" smtClean="0">
                <a:solidFill>
                  <a:schemeClr val="accent1"/>
                </a:solidFill>
              </a:rPr>
              <a:t>123B1D034</a:t>
            </a:r>
            <a:r>
              <a:rPr lang="en-US" sz="1400" b="1" dirty="0" smtClean="0">
                <a:solidFill>
                  <a:schemeClr val="accent1"/>
                </a:solidFill>
              </a:rPr>
              <a:t>   </a:t>
            </a:r>
            <a:r>
              <a:rPr lang="en-US" sz="1400" b="1" dirty="0">
                <a:solidFill>
                  <a:schemeClr val="accent1"/>
                </a:solidFill>
              </a:rPr>
              <a:t>|   PCCOE, Pune</a:t>
            </a:r>
            <a:endParaRPr lang="en-US" sz="1400" dirty="0"/>
          </a:p>
        </p:txBody>
      </p:sp>
      <p:sp>
        <p:nvSpPr>
          <p:cNvPr id="6" name="map link 1"/>
          <p:cNvSpPr/>
          <p:nvPr/>
        </p:nvSpPr>
        <p:spPr>
          <a:xfrm>
            <a:off x="6766560" y="1280160"/>
            <a:ext cx="822960" cy="777240"/>
          </a:xfrm>
          <a:prstGeom prst="line">
            <a:avLst/>
          </a:prstGeom>
          <a:noFill/>
          <a:ln w="19050">
            <a:solidFill>
              <a:schemeClr val="accent1"/>
            </a:solidFill>
            <a:prstDash val="solid"/>
            <a:tailEnd type="triangle"/>
          </a:ln>
        </p:spPr>
      </p:sp>
      <p:sp>
        <p:nvSpPr>
          <p:cNvPr id="7" name="map link 2"/>
          <p:cNvSpPr/>
          <p:nvPr/>
        </p:nvSpPr>
        <p:spPr>
          <a:xfrm flipV="1">
            <a:off x="6766560" y="2057400"/>
            <a:ext cx="822960" cy="777240"/>
          </a:xfrm>
          <a:prstGeom prst="line">
            <a:avLst/>
          </a:prstGeom>
          <a:noFill/>
          <a:ln w="19050">
            <a:solidFill>
              <a:schemeClr val="accent1"/>
            </a:solidFill>
            <a:prstDash val="solid"/>
            <a:tailEnd type="triangle"/>
          </a:ln>
        </p:spPr>
      </p:sp>
      <p:sp>
        <p:nvSpPr>
          <p:cNvPr id="8" name="map link 3"/>
          <p:cNvSpPr/>
          <p:nvPr/>
        </p:nvSpPr>
        <p:spPr>
          <a:xfrm>
            <a:off x="8092440" y="2240280"/>
            <a:ext cx="0" cy="1143000"/>
          </a:xfrm>
          <a:prstGeom prst="line">
            <a:avLst/>
          </a:prstGeom>
          <a:noFill/>
          <a:ln w="19050">
            <a:solidFill>
              <a:schemeClr val="accent1"/>
            </a:solidFill>
            <a:prstDash val="solid"/>
            <a:tailEnd type="triangle"/>
          </a:ln>
        </p:spPr>
      </p:sp>
      <p:sp>
        <p:nvSpPr>
          <p:cNvPr id="9" name="map node 1"/>
          <p:cNvSpPr/>
          <p:nvPr/>
        </p:nvSpPr>
        <p:spPr>
          <a:xfrm>
            <a:off x="5760720" y="1097280"/>
            <a:ext cx="1005840" cy="365760"/>
          </a:xfrm>
          <a:prstGeom prst="roundRect">
            <a:avLst>
              <a:gd name="adj" fmla="val 20000"/>
            </a:avLst>
          </a:prstGeom>
          <a:solidFill>
            <a:schemeClr val="tx2"/>
          </a:solidFill>
          <a:ln w="19050">
            <a:solidFill>
              <a:schemeClr val="accent6"/>
            </a:solidFill>
            <a:prstDash val="solid"/>
          </a:ln>
        </p:spPr>
      </p:sp>
      <p:sp>
        <p:nvSpPr>
          <p:cNvPr id="10" name="map label 1"/>
          <p:cNvSpPr txBox="1"/>
          <p:nvPr/>
        </p:nvSpPr>
        <p:spPr>
          <a:xfrm>
            <a:off x="5760720" y="1097280"/>
            <a:ext cx="1005840" cy="365760"/>
          </a:xfrm>
          <a:prstGeom prst="rect">
            <a:avLst/>
          </a:prstGeom>
          <a:noFill/>
          <a:ln/>
        </p:spPr>
        <p:txBody>
          <a:bodyPr wrap="square" lIns="0" tIns="0" rIns="0" bIns="0" rtlCol="0" anchor="ctr"/>
          <a:lstStyle/>
          <a:p>
            <a:pPr marL="0" indent="0" algn="ctr">
              <a:buNone/>
            </a:pPr>
            <a:r>
              <a:rPr lang="en-US" sz="1100" dirty="0">
                <a:solidFill>
                  <a:schemeClr val="bg1"/>
                </a:solidFill>
              </a:rPr>
              <a:t>SWC_Speed</a:t>
            </a:r>
            <a:endParaRPr lang="en-US" sz="1100" dirty="0"/>
          </a:p>
        </p:txBody>
      </p:sp>
      <p:sp>
        <p:nvSpPr>
          <p:cNvPr id="11" name="map node 2"/>
          <p:cNvSpPr/>
          <p:nvPr/>
        </p:nvSpPr>
        <p:spPr>
          <a:xfrm>
            <a:off x="5760720" y="2651760"/>
            <a:ext cx="1005840" cy="365760"/>
          </a:xfrm>
          <a:prstGeom prst="roundRect">
            <a:avLst>
              <a:gd name="adj" fmla="val 20000"/>
            </a:avLst>
          </a:prstGeom>
          <a:solidFill>
            <a:schemeClr val="tx2"/>
          </a:solidFill>
          <a:ln w="19050">
            <a:solidFill>
              <a:schemeClr val="accent6"/>
            </a:solidFill>
            <a:prstDash val="solid"/>
          </a:ln>
        </p:spPr>
      </p:sp>
      <p:sp>
        <p:nvSpPr>
          <p:cNvPr id="12" name="map label 2"/>
          <p:cNvSpPr txBox="1"/>
          <p:nvPr/>
        </p:nvSpPr>
        <p:spPr>
          <a:xfrm>
            <a:off x="5760720" y="2651760"/>
            <a:ext cx="1005840" cy="365760"/>
          </a:xfrm>
          <a:prstGeom prst="rect">
            <a:avLst/>
          </a:prstGeom>
          <a:noFill/>
          <a:ln/>
        </p:spPr>
        <p:txBody>
          <a:bodyPr wrap="square" lIns="0" tIns="0" rIns="0" bIns="0" rtlCol="0" anchor="ctr"/>
          <a:lstStyle/>
          <a:p>
            <a:pPr marL="0" indent="0" algn="ctr">
              <a:buNone/>
            </a:pPr>
            <a:r>
              <a:rPr lang="en-US" sz="1100" dirty="0">
                <a:solidFill>
                  <a:schemeClr val="bg1"/>
                </a:solidFill>
              </a:rPr>
              <a:t>SWC_Key</a:t>
            </a:r>
            <a:endParaRPr lang="en-US" sz="1100" dirty="0"/>
          </a:p>
        </p:txBody>
      </p:sp>
      <p:sp>
        <p:nvSpPr>
          <p:cNvPr id="13" name="map node 3"/>
          <p:cNvSpPr/>
          <p:nvPr/>
        </p:nvSpPr>
        <p:spPr>
          <a:xfrm>
            <a:off x="7589520" y="1874520"/>
            <a:ext cx="1005840" cy="365760"/>
          </a:xfrm>
          <a:prstGeom prst="roundRect">
            <a:avLst>
              <a:gd name="adj" fmla="val 20000"/>
            </a:avLst>
          </a:prstGeom>
          <a:solidFill>
            <a:schemeClr val="tx2"/>
          </a:solidFill>
          <a:ln w="19050">
            <a:solidFill>
              <a:schemeClr val="accent1"/>
            </a:solidFill>
            <a:prstDash val="solid"/>
          </a:ln>
        </p:spPr>
      </p:sp>
      <p:sp>
        <p:nvSpPr>
          <p:cNvPr id="14" name="map label 3"/>
          <p:cNvSpPr txBox="1"/>
          <p:nvPr/>
        </p:nvSpPr>
        <p:spPr>
          <a:xfrm>
            <a:off x="7589520" y="1874520"/>
            <a:ext cx="1005840" cy="365760"/>
          </a:xfrm>
          <a:prstGeom prst="rect">
            <a:avLst/>
          </a:prstGeom>
          <a:noFill/>
          <a:ln/>
        </p:spPr>
        <p:txBody>
          <a:bodyPr wrap="square" lIns="0" tIns="0" rIns="0" bIns="0" rtlCol="0" anchor="ctr"/>
          <a:lstStyle/>
          <a:p>
            <a:pPr marL="0" indent="0" algn="ctr">
              <a:buNone/>
            </a:pPr>
            <a:r>
              <a:rPr lang="en-US" sz="1100" dirty="0">
                <a:solidFill>
                  <a:schemeClr val="bg1"/>
                </a:solidFill>
              </a:rPr>
              <a:t>SWC_Arb</a:t>
            </a:r>
            <a:endParaRPr lang="en-US" sz="1100" dirty="0"/>
          </a:p>
        </p:txBody>
      </p:sp>
      <p:sp>
        <p:nvSpPr>
          <p:cNvPr id="15" name="map node 4"/>
          <p:cNvSpPr/>
          <p:nvPr/>
        </p:nvSpPr>
        <p:spPr>
          <a:xfrm>
            <a:off x="7589520" y="3383280"/>
            <a:ext cx="1005840" cy="365760"/>
          </a:xfrm>
          <a:prstGeom prst="roundRect">
            <a:avLst>
              <a:gd name="adj" fmla="val 20000"/>
            </a:avLst>
          </a:prstGeom>
          <a:solidFill>
            <a:schemeClr val="tx2"/>
          </a:solidFill>
          <a:ln w="19050">
            <a:solidFill>
              <a:schemeClr val="accent6"/>
            </a:solidFill>
            <a:prstDash val="solid"/>
          </a:ln>
        </p:spPr>
      </p:sp>
      <p:sp>
        <p:nvSpPr>
          <p:cNvPr id="16" name="map label 4"/>
          <p:cNvSpPr txBox="1"/>
          <p:nvPr/>
        </p:nvSpPr>
        <p:spPr>
          <a:xfrm>
            <a:off x="7589520" y="3383280"/>
            <a:ext cx="1005840" cy="365760"/>
          </a:xfrm>
          <a:prstGeom prst="rect">
            <a:avLst/>
          </a:prstGeom>
          <a:noFill/>
          <a:ln/>
        </p:spPr>
        <p:txBody>
          <a:bodyPr wrap="square" lIns="0" tIns="0" rIns="0" bIns="0" rtlCol="0" anchor="ctr"/>
          <a:lstStyle/>
          <a:p>
            <a:pPr marL="0" indent="0" algn="ctr">
              <a:buNone/>
            </a:pPr>
            <a:r>
              <a:rPr lang="en-US" sz="1100" dirty="0">
                <a:solidFill>
                  <a:schemeClr val="bg1"/>
                </a:solidFill>
              </a:rPr>
              <a:t>SWC_Lock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The problem</a:t>
            </a:r>
            <a:endParaRPr lang="en-US" sz="3400" dirty="0"/>
          </a:p>
        </p:txBody>
      </p:sp>
      <p:sp>
        <p:nvSpPr>
          <p:cNvPr id="3" name="Statement"/>
          <p:cNvSpPr txBox="1"/>
          <p:nvPr/>
        </p:nvSpPr>
        <p:spPr>
          <a:xfrm>
            <a:off x="457200" y="1280160"/>
            <a:ext cx="4023360" cy="137160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Hundreds of pages.</a:t>
            </a:r>
            <a:endParaRPr lang="en-US" sz="3000" dirty="0"/>
          </a:p>
          <a:p>
            <a:pPr marL="0" indent="0">
              <a:buNone/>
            </a:pPr>
            <a:r>
              <a:rPr lang="en-US" sz="3000" b="1" dirty="0">
                <a:solidFill>
                  <a:schemeClr val="tx1"/>
                </a:solidFill>
                <a:latin typeface="Cambria" pitchFamily="34" charset="0"/>
                <a:ea typeface="Cambria" pitchFamily="34" charset="-122"/>
                <a:cs typeface="Cambria" pitchFamily="34" charset="-120"/>
              </a:rPr>
              <a:t>Read by hand.</a:t>
            </a:r>
            <a:endParaRPr lang="en-US" sz="3000" dirty="0"/>
          </a:p>
        </p:txBody>
      </p:sp>
      <p:sp>
        <p:nvSpPr>
          <p:cNvPr id="4" name="Context"/>
          <p:cNvSpPr txBox="1"/>
          <p:nvPr/>
        </p:nvSpPr>
        <p:spPr>
          <a:xfrm>
            <a:off x="457200" y="2834640"/>
            <a:ext cx="3657600" cy="1188720"/>
          </a:xfrm>
          <a:prstGeom prst="rect">
            <a:avLst/>
          </a:prstGeom>
          <a:noFill/>
          <a:ln/>
        </p:spPr>
        <p:txBody>
          <a:bodyPr wrap="square" lIns="0" tIns="0" rIns="0" bIns="0" rtlCol="0" anchor="ctr"/>
          <a:lstStyle/>
          <a:p>
            <a:pPr marL="0" indent="0">
              <a:buNone/>
            </a:pPr>
            <a:r>
              <a:rPr lang="en-US" sz="1600" dirty="0">
                <a:solidFill>
                  <a:schemeClr val="accent6"/>
                </a:solidFill>
              </a:rPr>
              <a:t>High-Level Design documents describe components, ports, interfaces and signals. They live in PDFs, so every review is manual.</a:t>
            </a:r>
            <a:endParaRPr lang="en-US" sz="1600" dirty="0"/>
          </a:p>
        </p:txBody>
      </p:sp>
      <p:sp>
        <p:nvSpPr>
          <p:cNvPr id="5" name="problem card 1"/>
          <p:cNvSpPr/>
          <p:nvPr/>
        </p:nvSpPr>
        <p:spPr>
          <a:xfrm>
            <a:off x="4663440" y="1188720"/>
            <a:ext cx="4023360" cy="1005840"/>
          </a:xfrm>
          <a:prstGeom prst="roundRect">
            <a:avLst>
              <a:gd name="adj" fmla="val 7273"/>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6" name="Slow reviews circle"/>
          <p:cNvSpPr/>
          <p:nvPr/>
        </p:nvSpPr>
        <p:spPr>
          <a:xfrm>
            <a:off x="4846320" y="1371600"/>
            <a:ext cx="640080" cy="640080"/>
          </a:xfrm>
          <a:prstGeom prst="ellipse">
            <a:avLst/>
          </a:prstGeom>
          <a:solidFill>
            <a:schemeClr val="accent1"/>
          </a:solidFill>
          <a:ln w="12700">
            <a:solidFill>
              <a:schemeClr val="accent1"/>
            </a:solidFill>
            <a:prstDash val="solid"/>
          </a:ln>
        </p:spPr>
      </p:sp>
      <p:pic>
        <p:nvPicPr>
          <p:cNvPr id="7" name="Slow reviews" descr="Slow reviews"/>
          <p:cNvPicPr>
            <a:picLocks noChangeAspect="1"/>
          </p:cNvPicPr>
          <p:nvPr/>
        </p:nvPicPr>
        <p:blipFill>
          <a:blip r:embed="rId3"/>
          <a:stretch>
            <a:fillRect/>
          </a:stretch>
        </p:blipFill>
        <p:spPr>
          <a:xfrm>
            <a:off x="5006340" y="1531620"/>
            <a:ext cx="320040" cy="320040"/>
          </a:xfrm>
          <a:prstGeom prst="rect">
            <a:avLst/>
          </a:prstGeom>
        </p:spPr>
      </p:pic>
      <p:sp>
        <p:nvSpPr>
          <p:cNvPr id="8" name="problem head 1"/>
          <p:cNvSpPr txBox="1"/>
          <p:nvPr/>
        </p:nvSpPr>
        <p:spPr>
          <a:xfrm>
            <a:off x="5669280" y="1344168"/>
            <a:ext cx="2880360" cy="274320"/>
          </a:xfrm>
          <a:prstGeom prst="rect">
            <a:avLst/>
          </a:prstGeom>
          <a:noFill/>
          <a:ln/>
        </p:spPr>
        <p:txBody>
          <a:bodyPr wrap="square" lIns="0" tIns="0" rIns="0" bIns="0" rtlCol="0" anchor="ctr"/>
          <a:lstStyle/>
          <a:p>
            <a:pPr marL="0" indent="0">
              <a:buNone/>
            </a:pPr>
            <a:r>
              <a:rPr lang="en-US" sz="1600" b="1" dirty="0">
                <a:solidFill>
                  <a:schemeClr val="tx1"/>
                </a:solidFill>
              </a:rPr>
              <a:t>Slow reviews</a:t>
            </a:r>
            <a:endParaRPr lang="en-US" sz="1600" dirty="0"/>
          </a:p>
        </p:txBody>
      </p:sp>
      <p:sp>
        <p:nvSpPr>
          <p:cNvPr id="9" name="problem text 1"/>
          <p:cNvSpPr txBox="1"/>
          <p:nvPr/>
        </p:nvSpPr>
        <p:spPr>
          <a:xfrm>
            <a:off x="5669280" y="1645920"/>
            <a:ext cx="2880360" cy="457200"/>
          </a:xfrm>
          <a:prstGeom prst="rect">
            <a:avLst/>
          </a:prstGeom>
          <a:noFill/>
          <a:ln/>
        </p:spPr>
        <p:txBody>
          <a:bodyPr wrap="square" lIns="0" tIns="0" rIns="0" bIns="0" rtlCol="0" anchor="ctr"/>
          <a:lstStyle/>
          <a:p>
            <a:pPr marL="0" indent="0">
              <a:buNone/>
            </a:pPr>
            <a:r>
              <a:rPr lang="en-US" sz="1300" dirty="0">
                <a:solidFill>
                  <a:schemeClr val="accent6"/>
                </a:solidFill>
              </a:rPr>
              <a:t>Finding one signal across many pages takes hours.</a:t>
            </a:r>
            <a:endParaRPr lang="en-US" sz="1300" dirty="0"/>
          </a:p>
        </p:txBody>
      </p:sp>
      <p:sp>
        <p:nvSpPr>
          <p:cNvPr id="10" name="problem card 2"/>
          <p:cNvSpPr/>
          <p:nvPr/>
        </p:nvSpPr>
        <p:spPr>
          <a:xfrm>
            <a:off x="4663440" y="2377440"/>
            <a:ext cx="4023360" cy="1005840"/>
          </a:xfrm>
          <a:prstGeom prst="roundRect">
            <a:avLst>
              <a:gd name="adj" fmla="val 7273"/>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1" name="Hidden mismatches circle"/>
          <p:cNvSpPr/>
          <p:nvPr/>
        </p:nvSpPr>
        <p:spPr>
          <a:xfrm>
            <a:off x="4846320" y="2560320"/>
            <a:ext cx="640080" cy="640080"/>
          </a:xfrm>
          <a:prstGeom prst="ellipse">
            <a:avLst/>
          </a:prstGeom>
          <a:solidFill>
            <a:schemeClr val="accent1"/>
          </a:solidFill>
          <a:ln w="12700">
            <a:solidFill>
              <a:schemeClr val="accent1"/>
            </a:solidFill>
            <a:prstDash val="solid"/>
          </a:ln>
        </p:spPr>
      </p:sp>
      <p:pic>
        <p:nvPicPr>
          <p:cNvPr id="12" name="Hidden mismatches" descr="Hidden mismatches"/>
          <p:cNvPicPr>
            <a:picLocks noChangeAspect="1"/>
          </p:cNvPicPr>
          <p:nvPr/>
        </p:nvPicPr>
        <p:blipFill>
          <a:blip r:embed="rId4"/>
          <a:stretch>
            <a:fillRect/>
          </a:stretch>
        </p:blipFill>
        <p:spPr>
          <a:xfrm>
            <a:off x="5006340" y="2720340"/>
            <a:ext cx="320040" cy="320040"/>
          </a:xfrm>
          <a:prstGeom prst="rect">
            <a:avLst/>
          </a:prstGeom>
        </p:spPr>
      </p:pic>
      <p:sp>
        <p:nvSpPr>
          <p:cNvPr id="13" name="problem head 2"/>
          <p:cNvSpPr txBox="1"/>
          <p:nvPr/>
        </p:nvSpPr>
        <p:spPr>
          <a:xfrm>
            <a:off x="5669280" y="2532888"/>
            <a:ext cx="2880360" cy="274320"/>
          </a:xfrm>
          <a:prstGeom prst="rect">
            <a:avLst/>
          </a:prstGeom>
          <a:noFill/>
          <a:ln/>
        </p:spPr>
        <p:txBody>
          <a:bodyPr wrap="square" lIns="0" tIns="0" rIns="0" bIns="0" rtlCol="0" anchor="ctr"/>
          <a:lstStyle/>
          <a:p>
            <a:pPr marL="0" indent="0">
              <a:buNone/>
            </a:pPr>
            <a:r>
              <a:rPr lang="en-US" sz="1600" b="1" dirty="0">
                <a:solidFill>
                  <a:schemeClr val="tx1"/>
                </a:solidFill>
              </a:rPr>
              <a:t>Hidden mismatches</a:t>
            </a:r>
            <a:endParaRPr lang="en-US" sz="1600" dirty="0"/>
          </a:p>
        </p:txBody>
      </p:sp>
      <p:sp>
        <p:nvSpPr>
          <p:cNvPr id="14" name="problem text 2"/>
          <p:cNvSpPr txBox="1"/>
          <p:nvPr/>
        </p:nvSpPr>
        <p:spPr>
          <a:xfrm>
            <a:off x="5669280" y="2834640"/>
            <a:ext cx="2880360" cy="457200"/>
          </a:xfrm>
          <a:prstGeom prst="rect">
            <a:avLst/>
          </a:prstGeom>
          <a:noFill/>
          <a:ln/>
        </p:spPr>
        <p:txBody>
          <a:bodyPr wrap="square" lIns="0" tIns="0" rIns="0" bIns="0" rtlCol="0" anchor="ctr"/>
          <a:lstStyle/>
          <a:p>
            <a:pPr marL="0" indent="0">
              <a:buNone/>
            </a:pPr>
            <a:r>
              <a:rPr lang="en-US" sz="1300" dirty="0">
                <a:solidFill>
                  <a:schemeClr val="accent6"/>
                </a:solidFill>
              </a:rPr>
              <a:t>Missing producers and conflicting types go unnoticed.</a:t>
            </a:r>
            <a:endParaRPr lang="en-US" sz="1300" dirty="0"/>
          </a:p>
        </p:txBody>
      </p:sp>
      <p:sp>
        <p:nvSpPr>
          <p:cNvPr id="15" name="problem card 3"/>
          <p:cNvSpPr/>
          <p:nvPr/>
        </p:nvSpPr>
        <p:spPr>
          <a:xfrm>
            <a:off x="4663440" y="3566160"/>
            <a:ext cx="4023360" cy="1005840"/>
          </a:xfrm>
          <a:prstGeom prst="roundRect">
            <a:avLst>
              <a:gd name="adj" fmla="val 7273"/>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6" name="Knowledge in few heads circle"/>
          <p:cNvSpPr/>
          <p:nvPr/>
        </p:nvSpPr>
        <p:spPr>
          <a:xfrm>
            <a:off x="4846320" y="3749040"/>
            <a:ext cx="640080" cy="640080"/>
          </a:xfrm>
          <a:prstGeom prst="ellipse">
            <a:avLst/>
          </a:prstGeom>
          <a:solidFill>
            <a:schemeClr val="accent1"/>
          </a:solidFill>
          <a:ln w="12700">
            <a:solidFill>
              <a:schemeClr val="accent1"/>
            </a:solidFill>
            <a:prstDash val="solid"/>
          </a:ln>
        </p:spPr>
      </p:sp>
      <p:pic>
        <p:nvPicPr>
          <p:cNvPr id="17" name="Knowledge in few heads" descr="Knowledge in few heads"/>
          <p:cNvPicPr>
            <a:picLocks noChangeAspect="1"/>
          </p:cNvPicPr>
          <p:nvPr/>
        </p:nvPicPr>
        <p:blipFill>
          <a:blip r:embed="rId5"/>
          <a:stretch>
            <a:fillRect/>
          </a:stretch>
        </p:blipFill>
        <p:spPr>
          <a:xfrm>
            <a:off x="5006340" y="3909060"/>
            <a:ext cx="320040" cy="320040"/>
          </a:xfrm>
          <a:prstGeom prst="rect">
            <a:avLst/>
          </a:prstGeom>
        </p:spPr>
      </p:pic>
      <p:sp>
        <p:nvSpPr>
          <p:cNvPr id="18" name="problem head 3"/>
          <p:cNvSpPr txBox="1"/>
          <p:nvPr/>
        </p:nvSpPr>
        <p:spPr>
          <a:xfrm>
            <a:off x="5669280" y="3721608"/>
            <a:ext cx="2880360" cy="274320"/>
          </a:xfrm>
          <a:prstGeom prst="rect">
            <a:avLst/>
          </a:prstGeom>
          <a:noFill/>
          <a:ln/>
        </p:spPr>
        <p:txBody>
          <a:bodyPr wrap="square" lIns="0" tIns="0" rIns="0" bIns="0" rtlCol="0" anchor="ctr"/>
          <a:lstStyle/>
          <a:p>
            <a:pPr marL="0" indent="0">
              <a:buNone/>
            </a:pPr>
            <a:r>
              <a:rPr lang="en-US" sz="1600" b="1" dirty="0">
                <a:solidFill>
                  <a:schemeClr val="tx1"/>
                </a:solidFill>
              </a:rPr>
              <a:t>Knowledge in few heads</a:t>
            </a:r>
            <a:endParaRPr lang="en-US" sz="1600" dirty="0"/>
          </a:p>
        </p:txBody>
      </p:sp>
      <p:sp>
        <p:nvSpPr>
          <p:cNvPr id="19" name="problem text 3"/>
          <p:cNvSpPr txBox="1"/>
          <p:nvPr/>
        </p:nvSpPr>
        <p:spPr>
          <a:xfrm>
            <a:off x="5669280" y="4023360"/>
            <a:ext cx="2880360" cy="457200"/>
          </a:xfrm>
          <a:prstGeom prst="rect">
            <a:avLst/>
          </a:prstGeom>
          <a:noFill/>
          <a:ln/>
        </p:spPr>
        <p:txBody>
          <a:bodyPr wrap="square" lIns="0" tIns="0" rIns="0" bIns="0" rtlCol="0" anchor="ctr"/>
          <a:lstStyle/>
          <a:p>
            <a:pPr marL="0" indent="0">
              <a:buNone/>
            </a:pPr>
            <a:r>
              <a:rPr lang="en-US" sz="1300" dirty="0">
                <a:solidFill>
                  <a:schemeClr val="accent6"/>
                </a:solidFill>
              </a:rPr>
              <a:t>New engineers depend on a handful of experts.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What it does</a:t>
            </a:r>
            <a:endParaRPr lang="en-US" sz="3400" dirty="0"/>
          </a:p>
        </p:txBody>
      </p:sp>
      <p:sp>
        <p:nvSpPr>
          <p:cNvPr id="3" name="feature card 1"/>
          <p:cNvSpPr/>
          <p:nvPr/>
        </p:nvSpPr>
        <p:spPr>
          <a:xfrm>
            <a:off x="457200" y="1188720"/>
            <a:ext cx="4023360" cy="1554480"/>
          </a:xfrm>
          <a:prstGeom prst="roundRect">
            <a:avLst>
              <a:gd name="adj" fmla="val 4706"/>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4" name="Ask with sources circle"/>
          <p:cNvSpPr/>
          <p:nvPr/>
        </p:nvSpPr>
        <p:spPr>
          <a:xfrm>
            <a:off x="685800" y="1417320"/>
            <a:ext cx="594360" cy="594360"/>
          </a:xfrm>
          <a:prstGeom prst="ellipse">
            <a:avLst/>
          </a:prstGeom>
          <a:solidFill>
            <a:schemeClr val="accent2"/>
          </a:solidFill>
          <a:ln w="12700">
            <a:solidFill>
              <a:schemeClr val="accent2"/>
            </a:solidFill>
            <a:prstDash val="solid"/>
          </a:ln>
        </p:spPr>
      </p:sp>
      <p:pic>
        <p:nvPicPr>
          <p:cNvPr id="5" name="Ask with sources" descr="Ask with sources"/>
          <p:cNvPicPr>
            <a:picLocks noChangeAspect="1"/>
          </p:cNvPicPr>
          <p:nvPr/>
        </p:nvPicPr>
        <p:blipFill>
          <a:blip r:embed="rId3"/>
          <a:stretch>
            <a:fillRect/>
          </a:stretch>
        </p:blipFill>
        <p:spPr>
          <a:xfrm>
            <a:off x="834390" y="1565910"/>
            <a:ext cx="297180" cy="297180"/>
          </a:xfrm>
          <a:prstGeom prst="rect">
            <a:avLst/>
          </a:prstGeom>
        </p:spPr>
      </p:pic>
      <p:sp>
        <p:nvSpPr>
          <p:cNvPr id="6" name="feature head 1"/>
          <p:cNvSpPr txBox="1"/>
          <p:nvPr/>
        </p:nvSpPr>
        <p:spPr>
          <a:xfrm>
            <a:off x="1463040" y="1417320"/>
            <a:ext cx="2834640" cy="320040"/>
          </a:xfrm>
          <a:prstGeom prst="rect">
            <a:avLst/>
          </a:prstGeom>
          <a:noFill/>
          <a:ln/>
        </p:spPr>
        <p:txBody>
          <a:bodyPr wrap="square" lIns="0" tIns="0" rIns="0" bIns="0" rtlCol="0" anchor="ctr"/>
          <a:lstStyle/>
          <a:p>
            <a:pPr marL="0" indent="0">
              <a:buNone/>
            </a:pPr>
            <a:r>
              <a:rPr lang="en-US" sz="1800" b="1" dirty="0">
                <a:solidFill>
                  <a:schemeClr val="tx1"/>
                </a:solidFill>
              </a:rPr>
              <a:t>Ask with sources</a:t>
            </a:r>
            <a:endParaRPr lang="en-US" sz="1800" dirty="0"/>
          </a:p>
        </p:txBody>
      </p:sp>
      <p:sp>
        <p:nvSpPr>
          <p:cNvPr id="7" name="feature text 1"/>
          <p:cNvSpPr txBox="1"/>
          <p:nvPr/>
        </p:nvSpPr>
        <p:spPr>
          <a:xfrm>
            <a:off x="1463040" y="1810512"/>
            <a:ext cx="2834640" cy="822960"/>
          </a:xfrm>
          <a:prstGeom prst="rect">
            <a:avLst/>
          </a:prstGeom>
          <a:noFill/>
          <a:ln/>
        </p:spPr>
        <p:txBody>
          <a:bodyPr wrap="square" lIns="0" tIns="0" rIns="0" bIns="0" rtlCol="0" anchor="t"/>
          <a:lstStyle/>
          <a:p>
            <a:pPr marL="0" indent="0">
              <a:buNone/>
            </a:pPr>
            <a:r>
              <a:rPr lang="en-US" sz="1300" dirty="0">
                <a:solidFill>
                  <a:schemeClr val="accent6"/>
                </a:solidFill>
              </a:rPr>
              <a:t>Natural language questions. Every answer shows document, section and page.</a:t>
            </a:r>
            <a:endParaRPr lang="en-US" sz="1300" dirty="0"/>
          </a:p>
        </p:txBody>
      </p:sp>
      <p:sp>
        <p:nvSpPr>
          <p:cNvPr id="8" name="feature card 2"/>
          <p:cNvSpPr/>
          <p:nvPr/>
        </p:nvSpPr>
        <p:spPr>
          <a:xfrm>
            <a:off x="4663440" y="1188720"/>
            <a:ext cx="4023360" cy="1554480"/>
          </a:xfrm>
          <a:prstGeom prst="roundRect">
            <a:avLst>
              <a:gd name="adj" fmla="val 4706"/>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9" name="Architecture inventory circle"/>
          <p:cNvSpPr/>
          <p:nvPr/>
        </p:nvSpPr>
        <p:spPr>
          <a:xfrm>
            <a:off x="4892040" y="1417320"/>
            <a:ext cx="594360" cy="594360"/>
          </a:xfrm>
          <a:prstGeom prst="ellipse">
            <a:avLst/>
          </a:prstGeom>
          <a:solidFill>
            <a:schemeClr val="accent2"/>
          </a:solidFill>
          <a:ln w="12700">
            <a:solidFill>
              <a:schemeClr val="accent2"/>
            </a:solidFill>
            <a:prstDash val="solid"/>
          </a:ln>
        </p:spPr>
      </p:sp>
      <p:pic>
        <p:nvPicPr>
          <p:cNvPr id="10" name="Architecture inventory" descr="Architecture inventory"/>
          <p:cNvPicPr>
            <a:picLocks noChangeAspect="1"/>
          </p:cNvPicPr>
          <p:nvPr/>
        </p:nvPicPr>
        <p:blipFill>
          <a:blip r:embed="rId4"/>
          <a:stretch>
            <a:fillRect/>
          </a:stretch>
        </p:blipFill>
        <p:spPr>
          <a:xfrm>
            <a:off x="5040630" y="1565910"/>
            <a:ext cx="297180" cy="297180"/>
          </a:xfrm>
          <a:prstGeom prst="rect">
            <a:avLst/>
          </a:prstGeom>
        </p:spPr>
      </p:pic>
      <p:sp>
        <p:nvSpPr>
          <p:cNvPr id="11" name="feature head 2"/>
          <p:cNvSpPr txBox="1"/>
          <p:nvPr/>
        </p:nvSpPr>
        <p:spPr>
          <a:xfrm>
            <a:off x="5669280" y="1417320"/>
            <a:ext cx="2834640" cy="320040"/>
          </a:xfrm>
          <a:prstGeom prst="rect">
            <a:avLst/>
          </a:prstGeom>
          <a:noFill/>
          <a:ln/>
        </p:spPr>
        <p:txBody>
          <a:bodyPr wrap="square" lIns="0" tIns="0" rIns="0" bIns="0" rtlCol="0" anchor="ctr"/>
          <a:lstStyle/>
          <a:p>
            <a:pPr marL="0" indent="0">
              <a:buNone/>
            </a:pPr>
            <a:r>
              <a:rPr lang="en-US" sz="1800" b="1" dirty="0">
                <a:solidFill>
                  <a:schemeClr val="tx1"/>
                </a:solidFill>
              </a:rPr>
              <a:t>Architecture inventory</a:t>
            </a:r>
            <a:endParaRPr lang="en-US" sz="1800" dirty="0"/>
          </a:p>
        </p:txBody>
      </p:sp>
      <p:sp>
        <p:nvSpPr>
          <p:cNvPr id="12" name="feature text 2"/>
          <p:cNvSpPr txBox="1"/>
          <p:nvPr/>
        </p:nvSpPr>
        <p:spPr>
          <a:xfrm>
            <a:off x="5669280" y="1810512"/>
            <a:ext cx="2834640" cy="822960"/>
          </a:xfrm>
          <a:prstGeom prst="rect">
            <a:avLst/>
          </a:prstGeom>
          <a:noFill/>
          <a:ln/>
        </p:spPr>
        <p:txBody>
          <a:bodyPr wrap="square" lIns="0" tIns="0" rIns="0" bIns="0" rtlCol="0" anchor="t"/>
          <a:lstStyle/>
          <a:p>
            <a:pPr marL="0" indent="0">
              <a:buNone/>
            </a:pPr>
            <a:r>
              <a:rPr lang="en-US" sz="1300" dirty="0">
                <a:solidFill>
                  <a:schemeClr val="accent6"/>
                </a:solidFill>
              </a:rPr>
              <a:t>Components, ports, interfaces, signals and a dependency map with impact analysis.</a:t>
            </a:r>
            <a:endParaRPr lang="en-US" sz="1300" dirty="0"/>
          </a:p>
        </p:txBody>
      </p:sp>
      <p:sp>
        <p:nvSpPr>
          <p:cNvPr id="13" name="feature card 3"/>
          <p:cNvSpPr/>
          <p:nvPr/>
        </p:nvSpPr>
        <p:spPr>
          <a:xfrm>
            <a:off x="457200" y="2926080"/>
            <a:ext cx="4023360" cy="1554480"/>
          </a:xfrm>
          <a:prstGeom prst="roundRect">
            <a:avLst>
              <a:gd name="adj" fmla="val 4706"/>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4" name="Consistency checks circle"/>
          <p:cNvSpPr/>
          <p:nvPr/>
        </p:nvSpPr>
        <p:spPr>
          <a:xfrm>
            <a:off x="685800" y="3154680"/>
            <a:ext cx="594360" cy="594360"/>
          </a:xfrm>
          <a:prstGeom prst="ellipse">
            <a:avLst/>
          </a:prstGeom>
          <a:solidFill>
            <a:schemeClr val="accent2"/>
          </a:solidFill>
          <a:ln w="12700">
            <a:solidFill>
              <a:schemeClr val="accent2"/>
            </a:solidFill>
            <a:prstDash val="solid"/>
          </a:ln>
        </p:spPr>
      </p:sp>
      <p:pic>
        <p:nvPicPr>
          <p:cNvPr id="15" name="Consistency checks" descr="Consistency checks"/>
          <p:cNvPicPr>
            <a:picLocks noChangeAspect="1"/>
          </p:cNvPicPr>
          <p:nvPr/>
        </p:nvPicPr>
        <p:blipFill>
          <a:blip r:embed="rId5"/>
          <a:stretch>
            <a:fillRect/>
          </a:stretch>
        </p:blipFill>
        <p:spPr>
          <a:xfrm>
            <a:off x="834390" y="3303270"/>
            <a:ext cx="297180" cy="297180"/>
          </a:xfrm>
          <a:prstGeom prst="rect">
            <a:avLst/>
          </a:prstGeom>
        </p:spPr>
      </p:pic>
      <p:sp>
        <p:nvSpPr>
          <p:cNvPr id="16" name="feature head 3"/>
          <p:cNvSpPr txBox="1"/>
          <p:nvPr/>
        </p:nvSpPr>
        <p:spPr>
          <a:xfrm>
            <a:off x="1463040" y="3154680"/>
            <a:ext cx="2834640" cy="320040"/>
          </a:xfrm>
          <a:prstGeom prst="rect">
            <a:avLst/>
          </a:prstGeom>
          <a:noFill/>
          <a:ln/>
        </p:spPr>
        <p:txBody>
          <a:bodyPr wrap="square" lIns="0" tIns="0" rIns="0" bIns="0" rtlCol="0" anchor="ctr"/>
          <a:lstStyle/>
          <a:p>
            <a:pPr marL="0" indent="0">
              <a:buNone/>
            </a:pPr>
            <a:r>
              <a:rPr lang="en-US" sz="1800" b="1" dirty="0">
                <a:solidFill>
                  <a:schemeClr val="tx1"/>
                </a:solidFill>
              </a:rPr>
              <a:t>Consistency checks</a:t>
            </a:r>
            <a:endParaRPr lang="en-US" sz="1800" dirty="0"/>
          </a:p>
        </p:txBody>
      </p:sp>
      <p:sp>
        <p:nvSpPr>
          <p:cNvPr id="17" name="feature text 3"/>
          <p:cNvSpPr txBox="1"/>
          <p:nvPr/>
        </p:nvSpPr>
        <p:spPr>
          <a:xfrm>
            <a:off x="1463040" y="3547872"/>
            <a:ext cx="2834640" cy="822960"/>
          </a:xfrm>
          <a:prstGeom prst="rect">
            <a:avLst/>
          </a:prstGeom>
          <a:noFill/>
          <a:ln/>
        </p:spPr>
        <p:txBody>
          <a:bodyPr wrap="square" lIns="0" tIns="0" rIns="0" bIns="0" rtlCol="0" anchor="t"/>
          <a:lstStyle/>
          <a:p>
            <a:pPr marL="0" indent="0">
              <a:buNone/>
            </a:pPr>
            <a:r>
              <a:rPr lang="en-US" sz="1300" dirty="0">
                <a:solidFill>
                  <a:schemeClr val="accent6"/>
                </a:solidFill>
              </a:rPr>
              <a:t>11 rules find missing producers, type conflicts, timing and safety-level gaps.</a:t>
            </a:r>
            <a:endParaRPr lang="en-US" sz="1300" dirty="0"/>
          </a:p>
        </p:txBody>
      </p:sp>
      <p:sp>
        <p:nvSpPr>
          <p:cNvPr id="18" name="feature card 4"/>
          <p:cNvSpPr/>
          <p:nvPr/>
        </p:nvSpPr>
        <p:spPr>
          <a:xfrm>
            <a:off x="4663440" y="2926080"/>
            <a:ext cx="4023360" cy="1554480"/>
          </a:xfrm>
          <a:prstGeom prst="roundRect">
            <a:avLst>
              <a:gd name="adj" fmla="val 4706"/>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9" name="Compare revisions circle"/>
          <p:cNvSpPr/>
          <p:nvPr/>
        </p:nvSpPr>
        <p:spPr>
          <a:xfrm>
            <a:off x="4892040" y="3154680"/>
            <a:ext cx="594360" cy="594360"/>
          </a:xfrm>
          <a:prstGeom prst="ellipse">
            <a:avLst/>
          </a:prstGeom>
          <a:solidFill>
            <a:schemeClr val="accent2"/>
          </a:solidFill>
          <a:ln w="12700">
            <a:solidFill>
              <a:schemeClr val="accent2"/>
            </a:solidFill>
            <a:prstDash val="solid"/>
          </a:ln>
        </p:spPr>
      </p:sp>
      <p:pic>
        <p:nvPicPr>
          <p:cNvPr id="20" name="Compare revisions" descr="Compare revisions"/>
          <p:cNvPicPr>
            <a:picLocks noChangeAspect="1"/>
          </p:cNvPicPr>
          <p:nvPr/>
        </p:nvPicPr>
        <p:blipFill>
          <a:blip r:embed="rId6"/>
          <a:stretch>
            <a:fillRect/>
          </a:stretch>
        </p:blipFill>
        <p:spPr>
          <a:xfrm>
            <a:off x="5040630" y="3303270"/>
            <a:ext cx="297180" cy="297180"/>
          </a:xfrm>
          <a:prstGeom prst="rect">
            <a:avLst/>
          </a:prstGeom>
        </p:spPr>
      </p:pic>
      <p:sp>
        <p:nvSpPr>
          <p:cNvPr id="21" name="feature head 4"/>
          <p:cNvSpPr txBox="1"/>
          <p:nvPr/>
        </p:nvSpPr>
        <p:spPr>
          <a:xfrm>
            <a:off x="5669280" y="3154680"/>
            <a:ext cx="2834640" cy="320040"/>
          </a:xfrm>
          <a:prstGeom prst="rect">
            <a:avLst/>
          </a:prstGeom>
          <a:noFill/>
          <a:ln/>
        </p:spPr>
        <p:txBody>
          <a:bodyPr wrap="square" lIns="0" tIns="0" rIns="0" bIns="0" rtlCol="0" anchor="ctr"/>
          <a:lstStyle/>
          <a:p>
            <a:pPr marL="0" indent="0">
              <a:buNone/>
            </a:pPr>
            <a:r>
              <a:rPr lang="en-US" sz="1800" b="1" dirty="0">
                <a:solidFill>
                  <a:schemeClr val="tx1"/>
                </a:solidFill>
              </a:rPr>
              <a:t>Compare revisions</a:t>
            </a:r>
            <a:endParaRPr lang="en-US" sz="1800" dirty="0"/>
          </a:p>
        </p:txBody>
      </p:sp>
      <p:sp>
        <p:nvSpPr>
          <p:cNvPr id="22" name="feature text 4"/>
          <p:cNvSpPr txBox="1"/>
          <p:nvPr/>
        </p:nvSpPr>
        <p:spPr>
          <a:xfrm>
            <a:off x="5669280" y="3547872"/>
            <a:ext cx="2834640" cy="822960"/>
          </a:xfrm>
          <a:prstGeom prst="rect">
            <a:avLst/>
          </a:prstGeom>
          <a:noFill/>
          <a:ln/>
        </p:spPr>
        <p:txBody>
          <a:bodyPr wrap="square" lIns="0" tIns="0" rIns="0" bIns="0" rtlCol="0" anchor="t"/>
          <a:lstStyle/>
          <a:p>
            <a:pPr marL="0" indent="0">
              <a:buNone/>
            </a:pPr>
            <a:r>
              <a:rPr lang="en-US" sz="1300" dirty="0">
                <a:solidFill>
                  <a:schemeClr val="accent6"/>
                </a:solidFill>
              </a:rPr>
              <a:t>See what changed between two versions of the same document.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The knowledge base</a:t>
            </a:r>
            <a:endParaRPr lang="en-US" sz="3400" dirty="0"/>
          </a:p>
        </p:txBody>
      </p:sp>
      <p:sp>
        <p:nvSpPr>
          <p:cNvPr id="3" name="stat card 1"/>
          <p:cNvSpPr/>
          <p:nvPr/>
        </p:nvSpPr>
        <p:spPr>
          <a:xfrm>
            <a:off x="457200" y="1143000"/>
            <a:ext cx="1920240" cy="1188720"/>
          </a:xfrm>
          <a:prstGeom prst="roundRect">
            <a:avLst>
              <a:gd name="adj" fmla="val 6154"/>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4" name="stat 1"/>
          <p:cNvSpPr txBox="1"/>
          <p:nvPr/>
        </p:nvSpPr>
        <p:spPr>
          <a:xfrm>
            <a:off x="457200" y="1188720"/>
            <a:ext cx="1920240" cy="731520"/>
          </a:xfrm>
          <a:prstGeom prst="rect">
            <a:avLst/>
          </a:prstGeom>
          <a:noFill/>
          <a:ln/>
        </p:spPr>
        <p:txBody>
          <a:bodyPr wrap="square" lIns="0" tIns="0" rIns="0" bIns="0" rtlCol="0" anchor="ctr"/>
          <a:lstStyle/>
          <a:p>
            <a:pPr marL="0" indent="0" algn="ctr">
              <a:buNone/>
            </a:pPr>
            <a:r>
              <a:rPr lang="en-US" sz="4800" b="1" dirty="0">
                <a:solidFill>
                  <a:schemeClr val="accent2"/>
                </a:solidFill>
                <a:latin typeface="Cambria" pitchFamily="34" charset="0"/>
                <a:ea typeface="Cambria" pitchFamily="34" charset="-122"/>
                <a:cs typeface="Cambria" pitchFamily="34" charset="-120"/>
              </a:rPr>
              <a:t>4</a:t>
            </a:r>
            <a:endParaRPr lang="en-US" sz="4800" dirty="0"/>
          </a:p>
        </p:txBody>
      </p:sp>
      <p:sp>
        <p:nvSpPr>
          <p:cNvPr id="5" name="stat label 1"/>
          <p:cNvSpPr txBox="1"/>
          <p:nvPr/>
        </p:nvSpPr>
        <p:spPr>
          <a:xfrm>
            <a:off x="457200" y="1920240"/>
            <a:ext cx="1920240" cy="274320"/>
          </a:xfrm>
          <a:prstGeom prst="rect">
            <a:avLst/>
          </a:prstGeom>
          <a:noFill/>
          <a:ln/>
        </p:spPr>
        <p:txBody>
          <a:bodyPr wrap="square" lIns="0" tIns="0" rIns="0" bIns="0" rtlCol="0" anchor="ctr"/>
          <a:lstStyle/>
          <a:p>
            <a:pPr marL="0" indent="0" algn="ctr">
              <a:buNone/>
            </a:pPr>
            <a:r>
              <a:rPr lang="en-US" sz="1300" dirty="0">
                <a:solidFill>
                  <a:schemeClr val="accent6"/>
                </a:solidFill>
              </a:rPr>
              <a:t>PDF documents</a:t>
            </a:r>
            <a:endParaRPr lang="en-US" sz="1300" dirty="0"/>
          </a:p>
        </p:txBody>
      </p:sp>
      <p:sp>
        <p:nvSpPr>
          <p:cNvPr id="6" name="stat card 2"/>
          <p:cNvSpPr/>
          <p:nvPr/>
        </p:nvSpPr>
        <p:spPr>
          <a:xfrm>
            <a:off x="2542032" y="1143000"/>
            <a:ext cx="1920240" cy="1188720"/>
          </a:xfrm>
          <a:prstGeom prst="roundRect">
            <a:avLst>
              <a:gd name="adj" fmla="val 6154"/>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7" name="stat 2"/>
          <p:cNvSpPr txBox="1"/>
          <p:nvPr/>
        </p:nvSpPr>
        <p:spPr>
          <a:xfrm>
            <a:off x="2542032" y="1188720"/>
            <a:ext cx="1920240" cy="731520"/>
          </a:xfrm>
          <a:prstGeom prst="rect">
            <a:avLst/>
          </a:prstGeom>
          <a:noFill/>
          <a:ln/>
        </p:spPr>
        <p:txBody>
          <a:bodyPr wrap="square" lIns="0" tIns="0" rIns="0" bIns="0" rtlCol="0" anchor="ctr"/>
          <a:lstStyle/>
          <a:p>
            <a:pPr marL="0" indent="0" algn="ctr">
              <a:buNone/>
            </a:pPr>
            <a:r>
              <a:rPr lang="en-US" sz="4800" b="1" dirty="0">
                <a:solidFill>
                  <a:schemeClr val="accent2"/>
                </a:solidFill>
                <a:latin typeface="Cambria" pitchFamily="34" charset="0"/>
                <a:ea typeface="Cambria" pitchFamily="34" charset="-122"/>
                <a:cs typeface="Cambria" pitchFamily="34" charset="-120"/>
              </a:rPr>
              <a:t>23</a:t>
            </a:r>
            <a:endParaRPr lang="en-US" sz="4800" dirty="0"/>
          </a:p>
        </p:txBody>
      </p:sp>
      <p:sp>
        <p:nvSpPr>
          <p:cNvPr id="8" name="stat label 2"/>
          <p:cNvSpPr txBox="1"/>
          <p:nvPr/>
        </p:nvSpPr>
        <p:spPr>
          <a:xfrm>
            <a:off x="2542032" y="1920240"/>
            <a:ext cx="1920240" cy="274320"/>
          </a:xfrm>
          <a:prstGeom prst="rect">
            <a:avLst/>
          </a:prstGeom>
          <a:noFill/>
          <a:ln/>
        </p:spPr>
        <p:txBody>
          <a:bodyPr wrap="square" lIns="0" tIns="0" rIns="0" bIns="0" rtlCol="0" anchor="ctr"/>
          <a:lstStyle/>
          <a:p>
            <a:pPr marL="0" indent="0" algn="ctr">
              <a:buNone/>
            </a:pPr>
            <a:r>
              <a:rPr lang="en-US" sz="1300" dirty="0">
                <a:solidFill>
                  <a:schemeClr val="accent6"/>
                </a:solidFill>
              </a:rPr>
              <a:t>pages</a:t>
            </a:r>
            <a:endParaRPr lang="en-US" sz="1300" dirty="0"/>
          </a:p>
        </p:txBody>
      </p:sp>
      <p:sp>
        <p:nvSpPr>
          <p:cNvPr id="9" name="stat card 3"/>
          <p:cNvSpPr/>
          <p:nvPr/>
        </p:nvSpPr>
        <p:spPr>
          <a:xfrm>
            <a:off x="4626864" y="1143000"/>
            <a:ext cx="1920240" cy="1188720"/>
          </a:xfrm>
          <a:prstGeom prst="roundRect">
            <a:avLst>
              <a:gd name="adj" fmla="val 6154"/>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0" name="stat 3"/>
          <p:cNvSpPr txBox="1"/>
          <p:nvPr/>
        </p:nvSpPr>
        <p:spPr>
          <a:xfrm>
            <a:off x="4626864" y="1188720"/>
            <a:ext cx="1920240" cy="731520"/>
          </a:xfrm>
          <a:prstGeom prst="rect">
            <a:avLst/>
          </a:prstGeom>
          <a:noFill/>
          <a:ln/>
        </p:spPr>
        <p:txBody>
          <a:bodyPr wrap="square" lIns="0" tIns="0" rIns="0" bIns="0" rtlCol="0" anchor="ctr"/>
          <a:lstStyle/>
          <a:p>
            <a:pPr marL="0" indent="0" algn="ctr">
              <a:buNone/>
            </a:pPr>
            <a:r>
              <a:rPr lang="en-US" sz="4800" b="1" dirty="0">
                <a:solidFill>
                  <a:schemeClr val="accent2"/>
                </a:solidFill>
                <a:latin typeface="Cambria" pitchFamily="34" charset="0"/>
                <a:ea typeface="Cambria" pitchFamily="34" charset="-122"/>
                <a:cs typeface="Cambria" pitchFamily="34" charset="-120"/>
              </a:rPr>
              <a:t>101</a:t>
            </a:r>
            <a:endParaRPr lang="en-US" sz="4800" dirty="0"/>
          </a:p>
        </p:txBody>
      </p:sp>
      <p:sp>
        <p:nvSpPr>
          <p:cNvPr id="11" name="stat label 3"/>
          <p:cNvSpPr txBox="1"/>
          <p:nvPr/>
        </p:nvSpPr>
        <p:spPr>
          <a:xfrm>
            <a:off x="4626864" y="1920240"/>
            <a:ext cx="1920240" cy="274320"/>
          </a:xfrm>
          <a:prstGeom prst="rect">
            <a:avLst/>
          </a:prstGeom>
          <a:noFill/>
          <a:ln/>
        </p:spPr>
        <p:txBody>
          <a:bodyPr wrap="square" lIns="0" tIns="0" rIns="0" bIns="0" rtlCol="0" anchor="ctr"/>
          <a:lstStyle/>
          <a:p>
            <a:pPr marL="0" indent="0" algn="ctr">
              <a:buNone/>
            </a:pPr>
            <a:r>
              <a:rPr lang="en-US" sz="1300" dirty="0">
                <a:solidFill>
                  <a:schemeClr val="accent6"/>
                </a:solidFill>
              </a:rPr>
              <a:t>text chunks</a:t>
            </a:r>
            <a:endParaRPr lang="en-US" sz="1300" dirty="0"/>
          </a:p>
        </p:txBody>
      </p:sp>
      <p:sp>
        <p:nvSpPr>
          <p:cNvPr id="12" name="stat card 4"/>
          <p:cNvSpPr/>
          <p:nvPr/>
        </p:nvSpPr>
        <p:spPr>
          <a:xfrm>
            <a:off x="6711696" y="1143000"/>
            <a:ext cx="1920240" cy="1188720"/>
          </a:xfrm>
          <a:prstGeom prst="roundRect">
            <a:avLst>
              <a:gd name="adj" fmla="val 6154"/>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3" name="stat 4"/>
          <p:cNvSpPr txBox="1"/>
          <p:nvPr/>
        </p:nvSpPr>
        <p:spPr>
          <a:xfrm>
            <a:off x="6711696" y="1188720"/>
            <a:ext cx="1920240" cy="731520"/>
          </a:xfrm>
          <a:prstGeom prst="rect">
            <a:avLst/>
          </a:prstGeom>
          <a:noFill/>
          <a:ln/>
        </p:spPr>
        <p:txBody>
          <a:bodyPr wrap="square" lIns="0" tIns="0" rIns="0" bIns="0" rtlCol="0" anchor="ctr"/>
          <a:lstStyle/>
          <a:p>
            <a:pPr marL="0" indent="0" algn="ctr">
              <a:buNone/>
            </a:pPr>
            <a:r>
              <a:rPr lang="en-US" sz="4800" b="1" dirty="0">
                <a:solidFill>
                  <a:schemeClr val="accent2"/>
                </a:solidFill>
                <a:latin typeface="Cambria" pitchFamily="34" charset="0"/>
                <a:ea typeface="Cambria" pitchFamily="34" charset="-122"/>
                <a:cs typeface="Cambria" pitchFamily="34" charset="-120"/>
              </a:rPr>
              <a:t>12</a:t>
            </a:r>
            <a:endParaRPr lang="en-US" sz="4800" dirty="0"/>
          </a:p>
        </p:txBody>
      </p:sp>
      <p:sp>
        <p:nvSpPr>
          <p:cNvPr id="14" name="stat label 4"/>
          <p:cNvSpPr txBox="1"/>
          <p:nvPr/>
        </p:nvSpPr>
        <p:spPr>
          <a:xfrm>
            <a:off x="6711696" y="1920240"/>
            <a:ext cx="1920240" cy="274320"/>
          </a:xfrm>
          <a:prstGeom prst="rect">
            <a:avLst/>
          </a:prstGeom>
          <a:noFill/>
          <a:ln/>
        </p:spPr>
        <p:txBody>
          <a:bodyPr wrap="square" lIns="0" tIns="0" rIns="0" bIns="0" rtlCol="0" anchor="ctr"/>
          <a:lstStyle/>
          <a:p>
            <a:pPr marL="0" indent="0" algn="ctr">
              <a:buNone/>
            </a:pPr>
            <a:r>
              <a:rPr lang="en-US" sz="1300" dirty="0">
                <a:solidFill>
                  <a:schemeClr val="accent6"/>
                </a:solidFill>
              </a:rPr>
              <a:t>seeded defects</a:t>
            </a:r>
            <a:endParaRPr lang="en-US" sz="1300" dirty="0"/>
          </a:p>
        </p:txBody>
      </p:sp>
      <p:sp>
        <p:nvSpPr>
          <p:cNvPr id="15" name="documents card"/>
          <p:cNvSpPr/>
          <p:nvPr/>
        </p:nvSpPr>
        <p:spPr>
          <a:xfrm>
            <a:off x="457200" y="2560320"/>
            <a:ext cx="8229600" cy="2011680"/>
          </a:xfrm>
          <a:prstGeom prst="roundRect">
            <a:avLst>
              <a:gd name="adj" fmla="val 3636"/>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6" name="doc id 1"/>
          <p:cNvSpPr txBox="1"/>
          <p:nvPr/>
        </p:nvSpPr>
        <p:spPr>
          <a:xfrm>
            <a:off x="731520" y="2743200"/>
            <a:ext cx="2011680" cy="320040"/>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HLD-BCM-001  v1.1</a:t>
            </a:r>
            <a:endParaRPr lang="en-US" sz="1400" dirty="0"/>
          </a:p>
        </p:txBody>
      </p:sp>
      <p:sp>
        <p:nvSpPr>
          <p:cNvPr id="17" name="doc title 1"/>
          <p:cNvSpPr txBox="1"/>
          <p:nvPr/>
        </p:nvSpPr>
        <p:spPr>
          <a:xfrm>
            <a:off x="2834640" y="2743200"/>
            <a:ext cx="3840480" cy="320040"/>
          </a:xfrm>
          <a:prstGeom prst="rect">
            <a:avLst/>
          </a:prstGeom>
          <a:noFill/>
          <a:ln/>
        </p:spPr>
        <p:txBody>
          <a:bodyPr wrap="square" lIns="0" tIns="0" rIns="0" bIns="0" rtlCol="0" anchor="ctr"/>
          <a:lstStyle/>
          <a:p>
            <a:pPr marL="0" indent="0">
              <a:buNone/>
            </a:pPr>
            <a:r>
              <a:rPr lang="en-US" sz="1400" dirty="0">
                <a:solidFill>
                  <a:schemeClr val="tx1"/>
                </a:solidFill>
              </a:rPr>
              <a:t>Door and Access Control</a:t>
            </a:r>
            <a:endParaRPr lang="en-US" sz="1400" dirty="0"/>
          </a:p>
        </p:txBody>
      </p:sp>
      <p:sp>
        <p:nvSpPr>
          <p:cNvPr id="18" name="doc status 1"/>
          <p:cNvSpPr txBox="1"/>
          <p:nvPr/>
        </p:nvSpPr>
        <p:spPr>
          <a:xfrm>
            <a:off x="6949440" y="2743200"/>
            <a:ext cx="1463040" cy="320040"/>
          </a:xfrm>
          <a:prstGeom prst="rect">
            <a:avLst/>
          </a:prstGeom>
          <a:noFill/>
          <a:ln/>
        </p:spPr>
        <p:txBody>
          <a:bodyPr wrap="square" lIns="0" tIns="0" rIns="0" bIns="0" rtlCol="0" anchor="ctr"/>
          <a:lstStyle/>
          <a:p>
            <a:pPr marL="0" indent="0" algn="r">
              <a:buNone/>
            </a:pPr>
            <a:r>
              <a:rPr lang="en-US" sz="1300" b="1" dirty="0">
                <a:solidFill>
                  <a:schemeClr val="accent3"/>
                </a:solidFill>
              </a:rPr>
              <a:t>approved</a:t>
            </a:r>
            <a:endParaRPr lang="en-US" sz="1300" dirty="0"/>
          </a:p>
        </p:txBody>
      </p:sp>
      <p:sp>
        <p:nvSpPr>
          <p:cNvPr id="19" name="doc id 2"/>
          <p:cNvSpPr txBox="1"/>
          <p:nvPr/>
        </p:nvSpPr>
        <p:spPr>
          <a:xfrm>
            <a:off x="731520" y="3154680"/>
            <a:ext cx="2011680" cy="320040"/>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HLD-BCM-001  v1.0</a:t>
            </a:r>
            <a:endParaRPr lang="en-US" sz="1400" dirty="0"/>
          </a:p>
        </p:txBody>
      </p:sp>
      <p:sp>
        <p:nvSpPr>
          <p:cNvPr id="20" name="doc title 2"/>
          <p:cNvSpPr txBox="1"/>
          <p:nvPr/>
        </p:nvSpPr>
        <p:spPr>
          <a:xfrm>
            <a:off x="2834640" y="3154680"/>
            <a:ext cx="3840480" cy="320040"/>
          </a:xfrm>
          <a:prstGeom prst="rect">
            <a:avLst/>
          </a:prstGeom>
          <a:noFill/>
          <a:ln/>
        </p:spPr>
        <p:txBody>
          <a:bodyPr wrap="square" lIns="0" tIns="0" rIns="0" bIns="0" rtlCol="0" anchor="ctr"/>
          <a:lstStyle/>
          <a:p>
            <a:pPr marL="0" indent="0">
              <a:buNone/>
            </a:pPr>
            <a:r>
              <a:rPr lang="en-US" sz="1400" dirty="0">
                <a:solidFill>
                  <a:schemeClr val="tx1"/>
                </a:solidFill>
              </a:rPr>
              <a:t>Door and Access Control</a:t>
            </a:r>
            <a:endParaRPr lang="en-US" sz="1400" dirty="0"/>
          </a:p>
        </p:txBody>
      </p:sp>
      <p:sp>
        <p:nvSpPr>
          <p:cNvPr id="21" name="doc status 2"/>
          <p:cNvSpPr txBox="1"/>
          <p:nvPr/>
        </p:nvSpPr>
        <p:spPr>
          <a:xfrm>
            <a:off x="6949440" y="3154680"/>
            <a:ext cx="1463040" cy="320040"/>
          </a:xfrm>
          <a:prstGeom prst="rect">
            <a:avLst/>
          </a:prstGeom>
          <a:noFill/>
          <a:ln/>
        </p:spPr>
        <p:txBody>
          <a:bodyPr wrap="square" lIns="0" tIns="0" rIns="0" bIns="0" rtlCol="0" anchor="ctr"/>
          <a:lstStyle/>
          <a:p>
            <a:pPr marL="0" indent="0" algn="r">
              <a:buNone/>
            </a:pPr>
            <a:r>
              <a:rPr lang="en-US" sz="1300" b="1" dirty="0">
                <a:solidFill>
                  <a:schemeClr val="accent6"/>
                </a:solidFill>
              </a:rPr>
              <a:t>superseded</a:t>
            </a:r>
            <a:endParaRPr lang="en-US" sz="1300" dirty="0"/>
          </a:p>
        </p:txBody>
      </p:sp>
      <p:sp>
        <p:nvSpPr>
          <p:cNvPr id="22" name="doc id 3"/>
          <p:cNvSpPr txBox="1"/>
          <p:nvPr/>
        </p:nvSpPr>
        <p:spPr>
          <a:xfrm>
            <a:off x="731520" y="3566160"/>
            <a:ext cx="2011680" cy="320040"/>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HLD-DCM-003  v1.0</a:t>
            </a:r>
            <a:endParaRPr lang="en-US" sz="1400" dirty="0"/>
          </a:p>
        </p:txBody>
      </p:sp>
      <p:sp>
        <p:nvSpPr>
          <p:cNvPr id="23" name="doc title 3"/>
          <p:cNvSpPr txBox="1"/>
          <p:nvPr/>
        </p:nvSpPr>
        <p:spPr>
          <a:xfrm>
            <a:off x="2834640" y="3566160"/>
            <a:ext cx="3840480" cy="320040"/>
          </a:xfrm>
          <a:prstGeom prst="rect">
            <a:avLst/>
          </a:prstGeom>
          <a:noFill/>
          <a:ln/>
        </p:spPr>
        <p:txBody>
          <a:bodyPr wrap="square" lIns="0" tIns="0" rIns="0" bIns="0" rtlCol="0" anchor="ctr"/>
          <a:lstStyle/>
          <a:p>
            <a:pPr marL="0" indent="0">
              <a:buNone/>
            </a:pPr>
            <a:r>
              <a:rPr lang="en-US" sz="1400" dirty="0">
                <a:solidFill>
                  <a:schemeClr val="tx1"/>
                </a:solidFill>
              </a:rPr>
              <a:t>Diagnostic Communication and Gateway</a:t>
            </a:r>
            <a:endParaRPr lang="en-US" sz="1400" dirty="0"/>
          </a:p>
        </p:txBody>
      </p:sp>
      <p:sp>
        <p:nvSpPr>
          <p:cNvPr id="24" name="doc status 3"/>
          <p:cNvSpPr txBox="1"/>
          <p:nvPr/>
        </p:nvSpPr>
        <p:spPr>
          <a:xfrm>
            <a:off x="6949440" y="3566160"/>
            <a:ext cx="1463040" cy="320040"/>
          </a:xfrm>
          <a:prstGeom prst="rect">
            <a:avLst/>
          </a:prstGeom>
          <a:noFill/>
          <a:ln/>
        </p:spPr>
        <p:txBody>
          <a:bodyPr wrap="square" lIns="0" tIns="0" rIns="0" bIns="0" rtlCol="0" anchor="ctr"/>
          <a:lstStyle/>
          <a:p>
            <a:pPr marL="0" indent="0" algn="r">
              <a:buNone/>
            </a:pPr>
            <a:r>
              <a:rPr lang="en-US" sz="1300" b="1" dirty="0">
                <a:solidFill>
                  <a:schemeClr val="accent3"/>
                </a:solidFill>
              </a:rPr>
              <a:t>approved</a:t>
            </a:r>
            <a:endParaRPr lang="en-US" sz="1300" dirty="0"/>
          </a:p>
        </p:txBody>
      </p:sp>
      <p:sp>
        <p:nvSpPr>
          <p:cNvPr id="25" name="doc id 4"/>
          <p:cNvSpPr txBox="1"/>
          <p:nvPr/>
        </p:nvSpPr>
        <p:spPr>
          <a:xfrm>
            <a:off x="731520" y="3977640"/>
            <a:ext cx="2011680" cy="320040"/>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HLD-BMS-002  v1.0</a:t>
            </a:r>
            <a:endParaRPr lang="en-US" sz="1400" dirty="0"/>
          </a:p>
        </p:txBody>
      </p:sp>
      <p:sp>
        <p:nvSpPr>
          <p:cNvPr id="26" name="doc title 4"/>
          <p:cNvSpPr txBox="1"/>
          <p:nvPr/>
        </p:nvSpPr>
        <p:spPr>
          <a:xfrm>
            <a:off x="2834640" y="3977640"/>
            <a:ext cx="3840480" cy="320040"/>
          </a:xfrm>
          <a:prstGeom prst="rect">
            <a:avLst/>
          </a:prstGeom>
          <a:noFill/>
          <a:ln/>
        </p:spPr>
        <p:txBody>
          <a:bodyPr wrap="square" lIns="0" tIns="0" rIns="0" bIns="0" rtlCol="0" anchor="ctr"/>
          <a:lstStyle/>
          <a:p>
            <a:pPr marL="0" indent="0">
              <a:buNone/>
            </a:pPr>
            <a:r>
              <a:rPr lang="en-US" sz="1400" dirty="0">
                <a:solidFill>
                  <a:schemeClr val="tx1"/>
                </a:solidFill>
              </a:rPr>
              <a:t>Battery Management System</a:t>
            </a:r>
            <a:endParaRPr lang="en-US" sz="1400" dirty="0"/>
          </a:p>
        </p:txBody>
      </p:sp>
      <p:sp>
        <p:nvSpPr>
          <p:cNvPr id="27" name="doc status 4"/>
          <p:cNvSpPr txBox="1"/>
          <p:nvPr/>
        </p:nvSpPr>
        <p:spPr>
          <a:xfrm>
            <a:off x="6949440" y="3977640"/>
            <a:ext cx="1463040" cy="320040"/>
          </a:xfrm>
          <a:prstGeom prst="rect">
            <a:avLst/>
          </a:prstGeom>
          <a:noFill/>
          <a:ln/>
        </p:spPr>
        <p:txBody>
          <a:bodyPr wrap="square" lIns="0" tIns="0" rIns="0" bIns="0" rtlCol="0" anchor="ctr"/>
          <a:lstStyle/>
          <a:p>
            <a:pPr marL="0" indent="0" algn="r">
              <a:buNone/>
            </a:pPr>
            <a:r>
              <a:rPr lang="en-US" sz="1300" b="1" dirty="0">
                <a:solidFill>
                  <a:schemeClr val="accent3"/>
                </a:solidFill>
              </a:rPr>
              <a:t>approved</a:t>
            </a:r>
            <a:endParaRPr lang="en-US" sz="1300" dirty="0"/>
          </a:p>
        </p:txBody>
      </p:sp>
      <p:sp>
        <p:nvSpPr>
          <p:cNvPr id="28"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System architecture</a:t>
            </a:r>
            <a:endParaRPr lang="en-US" sz="3400" dirty="0"/>
          </a:p>
        </p:txBody>
      </p:sp>
      <p:pic>
        <p:nvPicPr>
          <p:cNvPr id="3" name="Architecture diagram" descr="System architecture diagram"/>
          <p:cNvPicPr>
            <a:picLocks noChangeAspect="1"/>
          </p:cNvPicPr>
          <p:nvPr/>
        </p:nvPicPr>
        <p:blipFill>
          <a:blip r:embed="rId3"/>
          <a:stretch>
            <a:fillRect/>
          </a:stretch>
        </p:blipFill>
        <p:spPr>
          <a:xfrm>
            <a:off x="457200" y="1097280"/>
            <a:ext cx="5669280" cy="3517411"/>
          </a:xfrm>
          <a:prstGeom prst="rect">
            <a:avLst/>
          </a:prstGeom>
        </p:spPr>
      </p:pic>
      <p:sp>
        <p:nvSpPr>
          <p:cNvPr id="4" name="Fully local circle"/>
          <p:cNvSpPr/>
          <p:nvPr/>
        </p:nvSpPr>
        <p:spPr>
          <a:xfrm>
            <a:off x="6400800" y="1188720"/>
            <a:ext cx="548640" cy="548640"/>
          </a:xfrm>
          <a:prstGeom prst="ellipse">
            <a:avLst/>
          </a:prstGeom>
          <a:solidFill>
            <a:schemeClr val="accent2"/>
          </a:solidFill>
          <a:ln w="12700">
            <a:solidFill>
              <a:schemeClr val="accent2"/>
            </a:solidFill>
            <a:prstDash val="solid"/>
          </a:ln>
        </p:spPr>
      </p:sp>
      <p:pic>
        <p:nvPicPr>
          <p:cNvPr id="5" name="Fully local" descr="Fully local"/>
          <p:cNvPicPr>
            <a:picLocks noChangeAspect="1"/>
          </p:cNvPicPr>
          <p:nvPr/>
        </p:nvPicPr>
        <p:blipFill>
          <a:blip r:embed="rId4"/>
          <a:stretch>
            <a:fillRect/>
          </a:stretch>
        </p:blipFill>
        <p:spPr>
          <a:xfrm>
            <a:off x="6537960" y="1325880"/>
            <a:ext cx="274320" cy="274320"/>
          </a:xfrm>
          <a:prstGeom prst="rect">
            <a:avLst/>
          </a:prstGeom>
        </p:spPr>
      </p:pic>
      <p:sp>
        <p:nvSpPr>
          <p:cNvPr id="6" name="arch head 1"/>
          <p:cNvSpPr txBox="1"/>
          <p:nvPr/>
        </p:nvSpPr>
        <p:spPr>
          <a:xfrm>
            <a:off x="7086600" y="1170432"/>
            <a:ext cx="1645920" cy="320040"/>
          </a:xfrm>
          <a:prstGeom prst="rect">
            <a:avLst/>
          </a:prstGeom>
          <a:noFill/>
          <a:ln/>
        </p:spPr>
        <p:txBody>
          <a:bodyPr wrap="square" lIns="0" tIns="0" rIns="0" bIns="0" rtlCol="0" anchor="t"/>
          <a:lstStyle/>
          <a:p>
            <a:pPr marL="0" indent="0">
              <a:buNone/>
            </a:pPr>
            <a:r>
              <a:rPr lang="en-US" sz="1400" b="1" dirty="0">
                <a:solidFill>
                  <a:schemeClr val="tx1"/>
                </a:solidFill>
              </a:rPr>
              <a:t>Fully local</a:t>
            </a:r>
            <a:endParaRPr lang="en-US" sz="1400" dirty="0"/>
          </a:p>
        </p:txBody>
      </p:sp>
      <p:sp>
        <p:nvSpPr>
          <p:cNvPr id="7" name="arch text 1"/>
          <p:cNvSpPr txBox="1"/>
          <p:nvPr/>
        </p:nvSpPr>
        <p:spPr>
          <a:xfrm>
            <a:off x="7086600" y="1517904"/>
            <a:ext cx="1645920" cy="457200"/>
          </a:xfrm>
          <a:prstGeom prst="rect">
            <a:avLst/>
          </a:prstGeom>
          <a:noFill/>
          <a:ln/>
        </p:spPr>
        <p:txBody>
          <a:bodyPr wrap="square" lIns="0" tIns="0" rIns="0" bIns="0" rtlCol="0" anchor="t"/>
          <a:lstStyle/>
          <a:p>
            <a:pPr marL="0" indent="0">
              <a:buNone/>
            </a:pPr>
            <a:r>
              <a:rPr lang="en-US" sz="1200" dirty="0">
                <a:solidFill>
                  <a:schemeClr val="accent6"/>
                </a:solidFill>
              </a:rPr>
              <a:t>No cloud, no external API</a:t>
            </a:r>
            <a:endParaRPr lang="en-US" sz="1200" dirty="0"/>
          </a:p>
        </p:txBody>
      </p:sp>
      <p:sp>
        <p:nvSpPr>
          <p:cNvPr id="8" name="SQLite + vector search circle"/>
          <p:cNvSpPr/>
          <p:nvPr/>
        </p:nvSpPr>
        <p:spPr>
          <a:xfrm>
            <a:off x="6400800" y="2377440"/>
            <a:ext cx="548640" cy="548640"/>
          </a:xfrm>
          <a:prstGeom prst="ellipse">
            <a:avLst/>
          </a:prstGeom>
          <a:solidFill>
            <a:schemeClr val="accent2"/>
          </a:solidFill>
          <a:ln w="12700">
            <a:solidFill>
              <a:schemeClr val="accent2"/>
            </a:solidFill>
            <a:prstDash val="solid"/>
          </a:ln>
        </p:spPr>
      </p:sp>
      <p:pic>
        <p:nvPicPr>
          <p:cNvPr id="9" name="SQLite + vector search" descr="SQLite + vector search"/>
          <p:cNvPicPr>
            <a:picLocks noChangeAspect="1"/>
          </p:cNvPicPr>
          <p:nvPr/>
        </p:nvPicPr>
        <p:blipFill>
          <a:blip r:embed="rId5"/>
          <a:stretch>
            <a:fillRect/>
          </a:stretch>
        </p:blipFill>
        <p:spPr>
          <a:xfrm>
            <a:off x="6537960" y="2514600"/>
            <a:ext cx="274320" cy="274320"/>
          </a:xfrm>
          <a:prstGeom prst="rect">
            <a:avLst/>
          </a:prstGeom>
        </p:spPr>
      </p:pic>
      <p:sp>
        <p:nvSpPr>
          <p:cNvPr id="10" name="arch head 2"/>
          <p:cNvSpPr txBox="1"/>
          <p:nvPr/>
        </p:nvSpPr>
        <p:spPr>
          <a:xfrm>
            <a:off x="7086600" y="2359152"/>
            <a:ext cx="1645920" cy="320040"/>
          </a:xfrm>
          <a:prstGeom prst="rect">
            <a:avLst/>
          </a:prstGeom>
          <a:noFill/>
          <a:ln/>
        </p:spPr>
        <p:txBody>
          <a:bodyPr wrap="square" lIns="0" tIns="0" rIns="0" bIns="0" rtlCol="0" anchor="t"/>
          <a:lstStyle/>
          <a:p>
            <a:pPr marL="0" indent="0">
              <a:buNone/>
            </a:pPr>
            <a:r>
              <a:rPr lang="en-US" sz="1400" b="1" dirty="0">
                <a:solidFill>
                  <a:schemeClr val="tx1"/>
                </a:solidFill>
              </a:rPr>
              <a:t>SQLite + vector search</a:t>
            </a:r>
            <a:endParaRPr lang="en-US" sz="1400" dirty="0"/>
          </a:p>
        </p:txBody>
      </p:sp>
      <p:sp>
        <p:nvSpPr>
          <p:cNvPr id="11" name="arch text 2"/>
          <p:cNvSpPr txBox="1"/>
          <p:nvPr/>
        </p:nvSpPr>
        <p:spPr>
          <a:xfrm>
            <a:off x="7086600" y="2706624"/>
            <a:ext cx="1645920" cy="457200"/>
          </a:xfrm>
          <a:prstGeom prst="rect">
            <a:avLst/>
          </a:prstGeom>
          <a:noFill/>
          <a:ln/>
        </p:spPr>
        <p:txBody>
          <a:bodyPr wrap="square" lIns="0" tIns="0" rIns="0" bIns="0" rtlCol="0" anchor="t"/>
          <a:lstStyle/>
          <a:p>
            <a:pPr marL="0" indent="0">
              <a:buNone/>
            </a:pPr>
            <a:r>
              <a:rPr lang="en-US" sz="1200" dirty="0">
                <a:solidFill>
                  <a:schemeClr val="accent6"/>
                </a:solidFill>
              </a:rPr>
              <a:t>Per-project collections</a:t>
            </a:r>
            <a:endParaRPr lang="en-US" sz="1200" dirty="0"/>
          </a:p>
        </p:txBody>
      </p:sp>
      <p:sp>
        <p:nvSpPr>
          <p:cNvPr id="12" name="Optional local LLM circle"/>
          <p:cNvSpPr/>
          <p:nvPr/>
        </p:nvSpPr>
        <p:spPr>
          <a:xfrm>
            <a:off x="6400800" y="3566160"/>
            <a:ext cx="548640" cy="548640"/>
          </a:xfrm>
          <a:prstGeom prst="ellipse">
            <a:avLst/>
          </a:prstGeom>
          <a:solidFill>
            <a:schemeClr val="accent2"/>
          </a:solidFill>
          <a:ln w="12700">
            <a:solidFill>
              <a:schemeClr val="accent2"/>
            </a:solidFill>
            <a:prstDash val="solid"/>
          </a:ln>
        </p:spPr>
      </p:sp>
      <p:pic>
        <p:nvPicPr>
          <p:cNvPr id="13" name="Optional local LLM" descr="Optional local LLM"/>
          <p:cNvPicPr>
            <a:picLocks noChangeAspect="1"/>
          </p:cNvPicPr>
          <p:nvPr/>
        </p:nvPicPr>
        <p:blipFill>
          <a:blip r:embed="rId6"/>
          <a:stretch>
            <a:fillRect/>
          </a:stretch>
        </p:blipFill>
        <p:spPr>
          <a:xfrm>
            <a:off x="6537960" y="3703320"/>
            <a:ext cx="274320" cy="274320"/>
          </a:xfrm>
          <a:prstGeom prst="rect">
            <a:avLst/>
          </a:prstGeom>
        </p:spPr>
      </p:pic>
      <p:sp>
        <p:nvSpPr>
          <p:cNvPr id="14" name="arch head 3"/>
          <p:cNvSpPr txBox="1"/>
          <p:nvPr/>
        </p:nvSpPr>
        <p:spPr>
          <a:xfrm>
            <a:off x="7086600" y="3547872"/>
            <a:ext cx="1645920" cy="320040"/>
          </a:xfrm>
          <a:prstGeom prst="rect">
            <a:avLst/>
          </a:prstGeom>
          <a:noFill/>
          <a:ln/>
        </p:spPr>
        <p:txBody>
          <a:bodyPr wrap="square" lIns="0" tIns="0" rIns="0" bIns="0" rtlCol="0" anchor="t"/>
          <a:lstStyle/>
          <a:p>
            <a:pPr marL="0" indent="0">
              <a:buNone/>
            </a:pPr>
            <a:r>
              <a:rPr lang="en-US" sz="1400" b="1" dirty="0">
                <a:solidFill>
                  <a:schemeClr val="tx1"/>
                </a:solidFill>
              </a:rPr>
              <a:t>Optional local LLM</a:t>
            </a:r>
            <a:endParaRPr lang="en-US" sz="1400" dirty="0"/>
          </a:p>
        </p:txBody>
      </p:sp>
      <p:sp>
        <p:nvSpPr>
          <p:cNvPr id="15" name="arch text 3"/>
          <p:cNvSpPr txBox="1"/>
          <p:nvPr/>
        </p:nvSpPr>
        <p:spPr>
          <a:xfrm>
            <a:off x="7086600" y="3895344"/>
            <a:ext cx="1645920" cy="457200"/>
          </a:xfrm>
          <a:prstGeom prst="rect">
            <a:avLst/>
          </a:prstGeom>
          <a:noFill/>
          <a:ln/>
        </p:spPr>
        <p:txBody>
          <a:bodyPr wrap="square" lIns="0" tIns="0" rIns="0" bIns="0" rtlCol="0" anchor="t"/>
          <a:lstStyle/>
          <a:p>
            <a:pPr marL="0" indent="0">
              <a:buNone/>
            </a:pPr>
            <a:r>
              <a:rPr lang="en-US" sz="1200" dirty="0">
                <a:solidFill>
                  <a:schemeClr val="accent6"/>
                </a:solidFill>
              </a:rPr>
              <a:t>Ollama, off by default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Indexing and answering</a:t>
            </a:r>
            <a:endParaRPr lang="en-US" sz="3400" dirty="0"/>
          </a:p>
        </p:txBody>
      </p:sp>
      <p:pic>
        <p:nvPicPr>
          <p:cNvPr id="3" name="Workflow diagram" descr="Indexing and answering workflow"/>
          <p:cNvPicPr>
            <a:picLocks noChangeAspect="1"/>
          </p:cNvPicPr>
          <p:nvPr/>
        </p:nvPicPr>
        <p:blipFill>
          <a:blip r:embed="rId3"/>
          <a:stretch>
            <a:fillRect/>
          </a:stretch>
        </p:blipFill>
        <p:spPr>
          <a:xfrm>
            <a:off x="1207793" y="1097280"/>
            <a:ext cx="6728415" cy="352044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How an answer is made</a:t>
            </a:r>
            <a:endParaRPr lang="en-US" sz="3400" dirty="0"/>
          </a:p>
        </p:txBody>
      </p:sp>
      <p:sp>
        <p:nvSpPr>
          <p:cNvPr id="3" name="step card 1"/>
          <p:cNvSpPr/>
          <p:nvPr/>
        </p:nvSpPr>
        <p:spPr>
          <a:xfrm>
            <a:off x="457200" y="1143000"/>
            <a:ext cx="2651760" cy="2331720"/>
          </a:xfrm>
          <a:prstGeom prst="roundRect">
            <a:avLst>
              <a:gd name="adj" fmla="val 3137"/>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4" name="Guard circle"/>
          <p:cNvSpPr/>
          <p:nvPr/>
        </p:nvSpPr>
        <p:spPr>
          <a:xfrm>
            <a:off x="685800" y="1325880"/>
            <a:ext cx="594360" cy="594360"/>
          </a:xfrm>
          <a:prstGeom prst="ellipse">
            <a:avLst/>
          </a:prstGeom>
          <a:solidFill>
            <a:schemeClr val="accent1"/>
          </a:solidFill>
          <a:ln w="12700">
            <a:solidFill>
              <a:schemeClr val="accent1"/>
            </a:solidFill>
            <a:prstDash val="solid"/>
          </a:ln>
        </p:spPr>
      </p:sp>
      <p:pic>
        <p:nvPicPr>
          <p:cNvPr id="5" name="Guard" descr="Guard"/>
          <p:cNvPicPr>
            <a:picLocks noChangeAspect="1"/>
          </p:cNvPicPr>
          <p:nvPr/>
        </p:nvPicPr>
        <p:blipFill>
          <a:blip r:embed="rId3"/>
          <a:stretch>
            <a:fillRect/>
          </a:stretch>
        </p:blipFill>
        <p:spPr>
          <a:xfrm>
            <a:off x="834390" y="1474470"/>
            <a:ext cx="297180" cy="297180"/>
          </a:xfrm>
          <a:prstGeom prst="rect">
            <a:avLst/>
          </a:prstGeom>
        </p:spPr>
      </p:pic>
      <p:sp>
        <p:nvSpPr>
          <p:cNvPr id="6" name="step head 1"/>
          <p:cNvSpPr txBox="1"/>
          <p:nvPr/>
        </p:nvSpPr>
        <p:spPr>
          <a:xfrm>
            <a:off x="685800" y="2057400"/>
            <a:ext cx="2194560" cy="3200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Guard</a:t>
            </a:r>
            <a:endParaRPr lang="en-US" sz="2000" dirty="0"/>
          </a:p>
        </p:txBody>
      </p:sp>
      <p:sp>
        <p:nvSpPr>
          <p:cNvPr id="7" name="step text 1"/>
          <p:cNvSpPr txBox="1"/>
          <p:nvPr/>
        </p:nvSpPr>
        <p:spPr>
          <a:xfrm>
            <a:off x="685800" y="2423160"/>
            <a:ext cx="2240280" cy="960120"/>
          </a:xfrm>
          <a:prstGeom prst="rect">
            <a:avLst/>
          </a:prstGeom>
          <a:noFill/>
          <a:ln/>
        </p:spPr>
        <p:txBody>
          <a:bodyPr wrap="square" lIns="0" tIns="0" rIns="0" bIns="0" rtlCol="0" anchor="t"/>
          <a:lstStyle/>
          <a:p>
            <a:pPr marL="0" indent="0">
              <a:buNone/>
            </a:pPr>
            <a:r>
              <a:rPr lang="en-US" sz="1300" dirty="0">
                <a:solidFill>
                  <a:schemeClr val="accent6"/>
                </a:solidFill>
              </a:rPr>
              <a:t>Unknown identifiers and out-of-scope questions are refused.</a:t>
            </a:r>
            <a:endParaRPr lang="en-US" sz="1300" dirty="0"/>
          </a:p>
        </p:txBody>
      </p:sp>
      <p:sp>
        <p:nvSpPr>
          <p:cNvPr id="8" name="step card 2"/>
          <p:cNvSpPr/>
          <p:nvPr/>
        </p:nvSpPr>
        <p:spPr>
          <a:xfrm>
            <a:off x="3246120" y="1143000"/>
            <a:ext cx="2651760" cy="2331720"/>
          </a:xfrm>
          <a:prstGeom prst="roundRect">
            <a:avLst>
              <a:gd name="adj" fmla="val 3137"/>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9" name="Route circle"/>
          <p:cNvSpPr/>
          <p:nvPr/>
        </p:nvSpPr>
        <p:spPr>
          <a:xfrm>
            <a:off x="3474720" y="1325880"/>
            <a:ext cx="594360" cy="594360"/>
          </a:xfrm>
          <a:prstGeom prst="ellipse">
            <a:avLst/>
          </a:prstGeom>
          <a:solidFill>
            <a:schemeClr val="accent1"/>
          </a:solidFill>
          <a:ln w="12700">
            <a:solidFill>
              <a:schemeClr val="accent1"/>
            </a:solidFill>
            <a:prstDash val="solid"/>
          </a:ln>
        </p:spPr>
      </p:sp>
      <p:pic>
        <p:nvPicPr>
          <p:cNvPr id="10" name="Route" descr="Route"/>
          <p:cNvPicPr>
            <a:picLocks noChangeAspect="1"/>
          </p:cNvPicPr>
          <p:nvPr/>
        </p:nvPicPr>
        <p:blipFill>
          <a:blip r:embed="rId4"/>
          <a:stretch>
            <a:fillRect/>
          </a:stretch>
        </p:blipFill>
        <p:spPr>
          <a:xfrm>
            <a:off x="3623310" y="1474470"/>
            <a:ext cx="297180" cy="297180"/>
          </a:xfrm>
          <a:prstGeom prst="rect">
            <a:avLst/>
          </a:prstGeom>
        </p:spPr>
      </p:pic>
      <p:sp>
        <p:nvSpPr>
          <p:cNvPr id="11" name="step head 2"/>
          <p:cNvSpPr txBox="1"/>
          <p:nvPr/>
        </p:nvSpPr>
        <p:spPr>
          <a:xfrm>
            <a:off x="3474720" y="2057400"/>
            <a:ext cx="2194560" cy="3200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Route</a:t>
            </a:r>
            <a:endParaRPr lang="en-US" sz="2000" dirty="0"/>
          </a:p>
        </p:txBody>
      </p:sp>
      <p:sp>
        <p:nvSpPr>
          <p:cNvPr id="12" name="step text 2"/>
          <p:cNvSpPr txBox="1"/>
          <p:nvPr/>
        </p:nvSpPr>
        <p:spPr>
          <a:xfrm>
            <a:off x="3474720" y="2423160"/>
            <a:ext cx="2240280" cy="960120"/>
          </a:xfrm>
          <a:prstGeom prst="rect">
            <a:avLst/>
          </a:prstGeom>
          <a:noFill/>
          <a:ln/>
        </p:spPr>
        <p:txBody>
          <a:bodyPr wrap="square" lIns="0" tIns="0" rIns="0" bIns="0" rtlCol="0" anchor="t"/>
          <a:lstStyle/>
          <a:p>
            <a:pPr marL="0" indent="0">
              <a:buNone/>
            </a:pPr>
            <a:r>
              <a:rPr lang="en-US" sz="1300" dirty="0">
                <a:solidFill>
                  <a:schemeClr val="accent6"/>
                </a:solidFill>
              </a:rPr>
              <a:t>Structured question: look it up in the parsed inventory. Otherwise: hybrid search (BM25 + vectors).</a:t>
            </a:r>
            <a:endParaRPr lang="en-US" sz="1300" dirty="0"/>
          </a:p>
        </p:txBody>
      </p:sp>
      <p:sp>
        <p:nvSpPr>
          <p:cNvPr id="13" name="step card 3"/>
          <p:cNvSpPr/>
          <p:nvPr/>
        </p:nvSpPr>
        <p:spPr>
          <a:xfrm>
            <a:off x="6035040" y="1143000"/>
            <a:ext cx="2651760" cy="2331720"/>
          </a:xfrm>
          <a:prstGeom prst="roundRect">
            <a:avLst>
              <a:gd name="adj" fmla="val 3137"/>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4" name="Compose circle"/>
          <p:cNvSpPr/>
          <p:nvPr/>
        </p:nvSpPr>
        <p:spPr>
          <a:xfrm>
            <a:off x="6263640" y="1325880"/>
            <a:ext cx="594360" cy="594360"/>
          </a:xfrm>
          <a:prstGeom prst="ellipse">
            <a:avLst/>
          </a:prstGeom>
          <a:solidFill>
            <a:schemeClr val="accent1"/>
          </a:solidFill>
          <a:ln w="12700">
            <a:solidFill>
              <a:schemeClr val="accent1"/>
            </a:solidFill>
            <a:prstDash val="solid"/>
          </a:ln>
        </p:spPr>
      </p:sp>
      <p:pic>
        <p:nvPicPr>
          <p:cNvPr id="15" name="Compose" descr="Compose"/>
          <p:cNvPicPr>
            <a:picLocks noChangeAspect="1"/>
          </p:cNvPicPr>
          <p:nvPr/>
        </p:nvPicPr>
        <p:blipFill>
          <a:blip r:embed="rId5"/>
          <a:stretch>
            <a:fillRect/>
          </a:stretch>
        </p:blipFill>
        <p:spPr>
          <a:xfrm>
            <a:off x="6412230" y="1474470"/>
            <a:ext cx="297180" cy="297180"/>
          </a:xfrm>
          <a:prstGeom prst="rect">
            <a:avLst/>
          </a:prstGeom>
        </p:spPr>
      </p:pic>
      <p:sp>
        <p:nvSpPr>
          <p:cNvPr id="16" name="step head 3"/>
          <p:cNvSpPr txBox="1"/>
          <p:nvPr/>
        </p:nvSpPr>
        <p:spPr>
          <a:xfrm>
            <a:off x="6263640" y="2057400"/>
            <a:ext cx="2194560" cy="3200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Compose</a:t>
            </a:r>
            <a:endParaRPr lang="en-US" sz="2000" dirty="0"/>
          </a:p>
        </p:txBody>
      </p:sp>
      <p:sp>
        <p:nvSpPr>
          <p:cNvPr id="17" name="step text 3"/>
          <p:cNvSpPr txBox="1"/>
          <p:nvPr/>
        </p:nvSpPr>
        <p:spPr>
          <a:xfrm>
            <a:off x="6263640" y="2423160"/>
            <a:ext cx="2240280" cy="960120"/>
          </a:xfrm>
          <a:prstGeom prst="rect">
            <a:avLst/>
          </a:prstGeom>
          <a:noFill/>
          <a:ln/>
        </p:spPr>
        <p:txBody>
          <a:bodyPr wrap="square" lIns="0" tIns="0" rIns="0" bIns="0" rtlCol="0" anchor="t"/>
          <a:lstStyle/>
          <a:p>
            <a:pPr marL="0" indent="0">
              <a:buNone/>
            </a:pPr>
            <a:r>
              <a:rPr lang="en-US" sz="1300" dirty="0">
                <a:solidFill>
                  <a:schemeClr val="accent6"/>
                </a:solidFill>
              </a:rPr>
              <a:t>Build the answer from evidence only. Tag every statement [S1], [S2] ...</a:t>
            </a:r>
            <a:endParaRPr lang="en-US" sz="1300" dirty="0"/>
          </a:p>
        </p:txBody>
      </p:sp>
      <p:sp>
        <p:nvSpPr>
          <p:cNvPr id="18" name="Principle banner"/>
          <p:cNvSpPr/>
          <p:nvPr/>
        </p:nvSpPr>
        <p:spPr>
          <a:xfrm>
            <a:off x="457200" y="3703320"/>
            <a:ext cx="8229600" cy="822960"/>
          </a:xfrm>
          <a:prstGeom prst="roundRect">
            <a:avLst>
              <a:gd name="adj" fmla="val 8889"/>
            </a:avLst>
          </a:prstGeom>
          <a:solidFill>
            <a:schemeClr val="tx1"/>
          </a:solidFill>
          <a:ln w="12700">
            <a:solidFill>
              <a:schemeClr val="tx1"/>
            </a:solidFill>
            <a:prstDash val="solid"/>
          </a:ln>
        </p:spPr>
      </p:sp>
      <p:sp>
        <p:nvSpPr>
          <p:cNvPr id="19" name="Principle text"/>
          <p:cNvSpPr txBox="1"/>
          <p:nvPr/>
        </p:nvSpPr>
        <p:spPr>
          <a:xfrm>
            <a:off x="731520" y="3749040"/>
            <a:ext cx="7680960" cy="731520"/>
          </a:xfrm>
          <a:prstGeom prst="rect">
            <a:avLst/>
          </a:prstGeom>
          <a:noFill/>
          <a:ln/>
        </p:spPr>
        <p:txBody>
          <a:bodyPr wrap="square" lIns="0" tIns="0" rIns="0" bIns="0" rtlCol="0" anchor="ctr"/>
          <a:lstStyle/>
          <a:p>
            <a:pPr marL="0" indent="0">
              <a:buNone/>
            </a:pPr>
            <a:r>
              <a:rPr lang="en-US" sz="1500" b="1" dirty="0">
                <a:solidFill>
                  <a:schemeClr val="accent1"/>
                </a:solidFill>
              </a:rPr>
              <a:t>Default: no generative model. </a:t>
            </a:r>
            <a:r>
              <a:rPr lang="en-US" sz="1500" dirty="0">
                <a:solidFill>
                  <a:schemeClr val="bg1"/>
                </a:solidFill>
              </a:rPr>
              <a:t>The answer cannot contain text that is not in the approved documents. An optional local LLM is accepted only if it cites real evidence.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Answers with proof</a:t>
            </a:r>
            <a:endParaRPr lang="en-US" sz="3400" dirty="0"/>
          </a:p>
        </p:txBody>
      </p:sp>
      <p:pic>
        <p:nvPicPr>
          <p:cNvPr id="3" name="Ask screenshot" descr="Ask page with a cited answer"/>
          <p:cNvPicPr>
            <a:picLocks noChangeAspect="1"/>
          </p:cNvPicPr>
          <p:nvPr/>
        </p:nvPicPr>
        <p:blipFill>
          <a:blip r:embed="rId3"/>
          <a:stretch>
            <a:fillRect/>
          </a:stretch>
        </p:blipFill>
        <p:spPr>
          <a:xfrm>
            <a:off x="457200" y="1097280"/>
            <a:ext cx="4892040" cy="3429000"/>
          </a:xfrm>
          <a:prstGeom prst="rect">
            <a:avLst/>
          </a:prstGeom>
          <a:effectLst>
            <a:outerShdw blurRad="101600" dist="25400" dir="5400000" algn="bl" rotWithShape="0">
              <a:srgbClr val="0E1A28">
                <a:alpha val="14000"/>
              </a:srgbClr>
            </a:outerShdw>
          </a:effectLst>
        </p:spPr>
      </p:pic>
      <p:sp>
        <p:nvSpPr>
          <p:cNvPr id="4" name="callout card 1"/>
          <p:cNvSpPr/>
          <p:nvPr/>
        </p:nvSpPr>
        <p:spPr>
          <a:xfrm>
            <a:off x="6217920" y="1188720"/>
            <a:ext cx="2468880" cy="960120"/>
          </a:xfrm>
          <a:prstGeom prst="roundRect">
            <a:avLst>
              <a:gd name="adj" fmla="val 7619"/>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5" name="callout head 1"/>
          <p:cNvSpPr txBox="1"/>
          <p:nvPr/>
        </p:nvSpPr>
        <p:spPr>
          <a:xfrm>
            <a:off x="6355080" y="1298448"/>
            <a:ext cx="2194560" cy="274320"/>
          </a:xfrm>
          <a:prstGeom prst="rect">
            <a:avLst/>
          </a:prstGeom>
          <a:noFill/>
          <a:ln/>
        </p:spPr>
        <p:txBody>
          <a:bodyPr wrap="square" lIns="0" tIns="0" rIns="0" bIns="0" rtlCol="0" anchor="ctr"/>
          <a:lstStyle/>
          <a:p>
            <a:pPr marL="0" indent="0">
              <a:buNone/>
            </a:pPr>
            <a:r>
              <a:rPr lang="en-US" sz="1500" b="1" dirty="0">
                <a:solidFill>
                  <a:schemeClr val="accent2"/>
                </a:solidFill>
              </a:rPr>
              <a:t>Source tags</a:t>
            </a:r>
            <a:endParaRPr lang="en-US" sz="1500" dirty="0"/>
          </a:p>
        </p:txBody>
      </p:sp>
      <p:sp>
        <p:nvSpPr>
          <p:cNvPr id="6" name="callout text 1"/>
          <p:cNvSpPr txBox="1"/>
          <p:nvPr/>
        </p:nvSpPr>
        <p:spPr>
          <a:xfrm>
            <a:off x="6355080" y="1627632"/>
            <a:ext cx="2194560" cy="457200"/>
          </a:xfrm>
          <a:prstGeom prst="rect">
            <a:avLst/>
          </a:prstGeom>
          <a:noFill/>
          <a:ln/>
        </p:spPr>
        <p:txBody>
          <a:bodyPr wrap="square" lIns="0" tIns="0" rIns="0" bIns="0" rtlCol="0" anchor="t"/>
          <a:lstStyle/>
          <a:p>
            <a:pPr marL="0" indent="0">
              <a:buNone/>
            </a:pPr>
            <a:r>
              <a:rPr lang="en-US" sz="1200" dirty="0">
                <a:solidFill>
                  <a:schemeClr val="accent6"/>
                </a:solidFill>
              </a:rPr>
              <a:t>Click S1 to open the exact passage.</a:t>
            </a:r>
            <a:endParaRPr lang="en-US" sz="1200" dirty="0"/>
          </a:p>
        </p:txBody>
      </p:sp>
      <p:sp>
        <p:nvSpPr>
          <p:cNvPr id="7" name="callout card 2"/>
          <p:cNvSpPr/>
          <p:nvPr/>
        </p:nvSpPr>
        <p:spPr>
          <a:xfrm>
            <a:off x="6217920" y="2331720"/>
            <a:ext cx="2468880" cy="960120"/>
          </a:xfrm>
          <a:prstGeom prst="roundRect">
            <a:avLst>
              <a:gd name="adj" fmla="val 7619"/>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8" name="callout head 2"/>
          <p:cNvSpPr txBox="1"/>
          <p:nvPr/>
        </p:nvSpPr>
        <p:spPr>
          <a:xfrm>
            <a:off x="6355080" y="2441448"/>
            <a:ext cx="2194560" cy="274320"/>
          </a:xfrm>
          <a:prstGeom prst="rect">
            <a:avLst/>
          </a:prstGeom>
          <a:noFill/>
          <a:ln/>
        </p:spPr>
        <p:txBody>
          <a:bodyPr wrap="square" lIns="0" tIns="0" rIns="0" bIns="0" rtlCol="0" anchor="ctr"/>
          <a:lstStyle/>
          <a:p>
            <a:pPr marL="0" indent="0">
              <a:buNone/>
            </a:pPr>
            <a:r>
              <a:rPr lang="en-US" sz="1500" b="1" dirty="0">
                <a:solidFill>
                  <a:schemeClr val="accent2"/>
                </a:solidFill>
              </a:rPr>
              <a:t>Confidence and grounding</a:t>
            </a:r>
            <a:endParaRPr lang="en-US" sz="1500" dirty="0"/>
          </a:p>
        </p:txBody>
      </p:sp>
      <p:sp>
        <p:nvSpPr>
          <p:cNvPr id="9" name="callout text 2"/>
          <p:cNvSpPr txBox="1"/>
          <p:nvPr/>
        </p:nvSpPr>
        <p:spPr>
          <a:xfrm>
            <a:off x="6355080" y="2770632"/>
            <a:ext cx="2194560" cy="457200"/>
          </a:xfrm>
          <a:prstGeom prst="rect">
            <a:avLst/>
          </a:prstGeom>
          <a:noFill/>
          <a:ln/>
        </p:spPr>
        <p:txBody>
          <a:bodyPr wrap="square" lIns="0" tIns="0" rIns="0" bIns="0" rtlCol="0" anchor="t"/>
          <a:lstStyle/>
          <a:p>
            <a:pPr marL="0" indent="0">
              <a:buNone/>
            </a:pPr>
            <a:r>
              <a:rPr lang="en-US" sz="1200" dirty="0">
                <a:solidFill>
                  <a:schemeClr val="accent6"/>
                </a:solidFill>
              </a:rPr>
              <a:t>Shown with every answer.</a:t>
            </a:r>
            <a:endParaRPr lang="en-US" sz="1200" dirty="0"/>
          </a:p>
        </p:txBody>
      </p:sp>
      <p:sp>
        <p:nvSpPr>
          <p:cNvPr id="10" name="callout card 3"/>
          <p:cNvSpPr/>
          <p:nvPr/>
        </p:nvSpPr>
        <p:spPr>
          <a:xfrm>
            <a:off x="6217920" y="3474720"/>
            <a:ext cx="2468880" cy="960120"/>
          </a:xfrm>
          <a:prstGeom prst="roundRect">
            <a:avLst>
              <a:gd name="adj" fmla="val 7619"/>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1" name="callout head 3"/>
          <p:cNvSpPr txBox="1"/>
          <p:nvPr/>
        </p:nvSpPr>
        <p:spPr>
          <a:xfrm>
            <a:off x="6355080" y="3584448"/>
            <a:ext cx="2194560" cy="274320"/>
          </a:xfrm>
          <a:prstGeom prst="rect">
            <a:avLst/>
          </a:prstGeom>
          <a:noFill/>
          <a:ln/>
        </p:spPr>
        <p:txBody>
          <a:bodyPr wrap="square" lIns="0" tIns="0" rIns="0" bIns="0" rtlCol="0" anchor="ctr"/>
          <a:lstStyle/>
          <a:p>
            <a:pPr marL="0" indent="0">
              <a:buNone/>
            </a:pPr>
            <a:r>
              <a:rPr lang="en-US" sz="1500" b="1" dirty="0">
                <a:solidFill>
                  <a:schemeClr val="accent2"/>
                </a:solidFill>
              </a:rPr>
              <a:t>Refusals</a:t>
            </a:r>
            <a:endParaRPr lang="en-US" sz="1500" dirty="0"/>
          </a:p>
        </p:txBody>
      </p:sp>
      <p:sp>
        <p:nvSpPr>
          <p:cNvPr id="12" name="callout text 3"/>
          <p:cNvSpPr txBox="1"/>
          <p:nvPr/>
        </p:nvSpPr>
        <p:spPr>
          <a:xfrm>
            <a:off x="6355080" y="3913632"/>
            <a:ext cx="2194560" cy="457200"/>
          </a:xfrm>
          <a:prstGeom prst="rect">
            <a:avLst/>
          </a:prstGeom>
          <a:noFill/>
          <a:ln/>
        </p:spPr>
        <p:txBody>
          <a:bodyPr wrap="square" lIns="0" tIns="0" rIns="0" bIns="0" rtlCol="0" anchor="t"/>
          <a:lstStyle/>
          <a:p>
            <a:pPr marL="0" indent="0">
              <a:buNone/>
            </a:pPr>
            <a:r>
              <a:rPr lang="en-US" sz="1200" dirty="0">
                <a:solidFill>
                  <a:schemeClr val="accent6"/>
                </a:solidFill>
              </a:rPr>
              <a:t>Unsupported questions get no answer.</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Explore and check</a:t>
            </a:r>
            <a:endParaRPr lang="en-US" sz="3400" dirty="0"/>
          </a:p>
        </p:txBody>
      </p:sp>
      <p:pic>
        <p:nvPicPr>
          <p:cNvPr id="3" name="Map screenshot" descr="Dependency map"/>
          <p:cNvPicPr>
            <a:picLocks noChangeAspect="1"/>
          </p:cNvPicPr>
          <p:nvPr/>
        </p:nvPicPr>
        <p:blipFill>
          <a:blip r:embed="rId3"/>
          <a:stretch>
            <a:fillRect/>
          </a:stretch>
        </p:blipFill>
        <p:spPr>
          <a:xfrm>
            <a:off x="457200" y="1143000"/>
            <a:ext cx="4023360" cy="2347265"/>
          </a:xfrm>
          <a:prstGeom prst="rect">
            <a:avLst/>
          </a:prstGeom>
          <a:effectLst>
            <a:outerShdw blurRad="101600" dist="25400" dir="5400000" algn="bl" rotWithShape="0">
              <a:srgbClr val="0E1A28">
                <a:alpha val="14000"/>
              </a:srgbClr>
            </a:outerShdw>
          </a:effectLst>
        </p:spPr>
      </p:pic>
      <p:pic>
        <p:nvPicPr>
          <p:cNvPr id="4" name="Checks screenshot" descr="Consistency checks"/>
          <p:cNvPicPr>
            <a:picLocks noChangeAspect="1"/>
          </p:cNvPicPr>
          <p:nvPr/>
        </p:nvPicPr>
        <p:blipFill>
          <a:blip r:embed="rId4"/>
          <a:stretch>
            <a:fillRect/>
          </a:stretch>
        </p:blipFill>
        <p:spPr>
          <a:xfrm>
            <a:off x="4663440" y="1143000"/>
            <a:ext cx="4023360" cy="2347265"/>
          </a:xfrm>
          <a:prstGeom prst="rect">
            <a:avLst/>
          </a:prstGeom>
          <a:effectLst>
            <a:outerShdw blurRad="101600" dist="25400" dir="5400000" algn="bl" rotWithShape="0">
              <a:srgbClr val="0E1A28">
                <a:alpha val="14000"/>
              </a:srgbClr>
            </a:outerShdw>
          </a:effectLst>
        </p:spPr>
      </p:pic>
      <p:sp>
        <p:nvSpPr>
          <p:cNvPr id="5" name="Map caption head"/>
          <p:cNvSpPr txBox="1"/>
          <p:nvPr/>
        </p:nvSpPr>
        <p:spPr>
          <a:xfrm>
            <a:off x="457200" y="3794760"/>
            <a:ext cx="4023360" cy="274320"/>
          </a:xfrm>
          <a:prstGeom prst="rect">
            <a:avLst/>
          </a:prstGeom>
          <a:noFill/>
          <a:ln/>
        </p:spPr>
        <p:txBody>
          <a:bodyPr wrap="square" lIns="0" tIns="0" rIns="0" bIns="0" rtlCol="0" anchor="ctr"/>
          <a:lstStyle/>
          <a:p>
            <a:pPr marL="0" indent="0">
              <a:buNone/>
            </a:pPr>
            <a:r>
              <a:rPr lang="en-US" sz="1600" b="1" dirty="0">
                <a:solidFill>
                  <a:schemeClr val="tx1"/>
                </a:solidFill>
              </a:rPr>
              <a:t>Dependency map</a:t>
            </a:r>
            <a:endParaRPr lang="en-US" sz="1600" dirty="0"/>
          </a:p>
        </p:txBody>
      </p:sp>
      <p:sp>
        <p:nvSpPr>
          <p:cNvPr id="6" name="Map caption"/>
          <p:cNvSpPr txBox="1"/>
          <p:nvPr/>
        </p:nvSpPr>
        <p:spPr>
          <a:xfrm>
            <a:off x="457200" y="4087368"/>
            <a:ext cx="4023360" cy="548640"/>
          </a:xfrm>
          <a:prstGeom prst="rect">
            <a:avLst/>
          </a:prstGeom>
          <a:noFill/>
          <a:ln/>
        </p:spPr>
        <p:txBody>
          <a:bodyPr wrap="square" lIns="0" tIns="0" rIns="0" bIns="0" rtlCol="0" anchor="t"/>
          <a:lstStyle/>
          <a:p>
            <a:pPr marL="0" indent="0">
              <a:buNone/>
            </a:pPr>
            <a:r>
              <a:rPr lang="en-US" sz="1200" dirty="0">
                <a:solidFill>
                  <a:schemeClr val="accent6"/>
                </a:solidFill>
              </a:rPr>
              <a:t>Producer to consumer links and impact of a change. Red dashed = referenced but not defined.</a:t>
            </a:r>
            <a:endParaRPr lang="en-US" sz="1200" dirty="0"/>
          </a:p>
        </p:txBody>
      </p:sp>
      <p:sp>
        <p:nvSpPr>
          <p:cNvPr id="7" name="Checks caption head"/>
          <p:cNvSpPr txBox="1"/>
          <p:nvPr/>
        </p:nvSpPr>
        <p:spPr>
          <a:xfrm>
            <a:off x="4663440" y="3794760"/>
            <a:ext cx="4023360" cy="274320"/>
          </a:xfrm>
          <a:prstGeom prst="rect">
            <a:avLst/>
          </a:prstGeom>
          <a:noFill/>
          <a:ln/>
        </p:spPr>
        <p:txBody>
          <a:bodyPr wrap="square" lIns="0" tIns="0" rIns="0" bIns="0" rtlCol="0" anchor="ctr"/>
          <a:lstStyle/>
          <a:p>
            <a:pPr marL="0" indent="0">
              <a:buNone/>
            </a:pPr>
            <a:r>
              <a:rPr lang="en-US" sz="1600" b="1" dirty="0">
                <a:solidFill>
                  <a:schemeClr val="tx1"/>
                </a:solidFill>
              </a:rPr>
              <a:t>Consistency checks</a:t>
            </a:r>
            <a:endParaRPr lang="en-US" sz="1600" dirty="0"/>
          </a:p>
        </p:txBody>
      </p:sp>
      <p:sp>
        <p:nvSpPr>
          <p:cNvPr id="8" name="Checks caption"/>
          <p:cNvSpPr txBox="1"/>
          <p:nvPr/>
        </p:nvSpPr>
        <p:spPr>
          <a:xfrm>
            <a:off x="4663440" y="4087368"/>
            <a:ext cx="4023360" cy="548640"/>
          </a:xfrm>
          <a:prstGeom prst="rect">
            <a:avLst/>
          </a:prstGeom>
          <a:noFill/>
          <a:ln/>
        </p:spPr>
        <p:txBody>
          <a:bodyPr wrap="square" lIns="0" tIns="0" rIns="0" bIns="0" rtlCol="0" anchor="t"/>
          <a:lstStyle/>
          <a:p>
            <a:pPr marL="0" indent="0">
              <a:buNone/>
            </a:pPr>
            <a:r>
              <a:rPr lang="en-US" sz="1200" dirty="0">
                <a:solidFill>
                  <a:schemeClr val="accent6"/>
                </a:solidFill>
              </a:rPr>
              <a:t>Findings with severity and evidence. Architects confirm or reject each 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Evaluation results</a:t>
            </a:r>
            <a:endParaRPr lang="en-US" sz="3400" dirty="0"/>
          </a:p>
        </p:txBody>
      </p:sp>
      <p:sp>
        <p:nvSpPr>
          <p:cNvPr id="3" name="chart card"/>
          <p:cNvSpPr/>
          <p:nvPr/>
        </p:nvSpPr>
        <p:spPr>
          <a:xfrm>
            <a:off x="457200" y="1097280"/>
            <a:ext cx="5212080" cy="3474720"/>
          </a:xfrm>
          <a:prstGeom prst="roundRect">
            <a:avLst>
              <a:gd name="adj" fmla="val 2105"/>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graphicFrame>
        <p:nvGraphicFramePr>
          <p:cNvPr id="4" name="Results chart"/>
          <p:cNvGraphicFramePr/>
          <p:nvPr/>
        </p:nvGraphicFramePr>
        <p:xfrm>
          <a:off x="594360" y="1188720"/>
          <a:ext cx="49377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tat q"/>
          <p:cNvSpPr/>
          <p:nvPr/>
        </p:nvSpPr>
        <p:spPr>
          <a:xfrm>
            <a:off x="5943600" y="1097280"/>
            <a:ext cx="2743200" cy="1051560"/>
          </a:xfrm>
          <a:prstGeom prst="roundRect">
            <a:avLst>
              <a:gd name="adj" fmla="val 6957"/>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6" name="stat 43"/>
          <p:cNvSpPr txBox="1"/>
          <p:nvPr/>
        </p:nvSpPr>
        <p:spPr>
          <a:xfrm>
            <a:off x="6080760" y="1188720"/>
            <a:ext cx="1005840" cy="86868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43</a:t>
            </a:r>
            <a:endParaRPr lang="en-US" sz="4000" dirty="0"/>
          </a:p>
        </p:txBody>
      </p:sp>
      <p:sp>
        <p:nvSpPr>
          <p:cNvPr id="7" name="stat 43 label"/>
          <p:cNvSpPr txBox="1"/>
          <p:nvPr/>
        </p:nvSpPr>
        <p:spPr>
          <a:xfrm>
            <a:off x="7040880" y="1188720"/>
            <a:ext cx="1554480" cy="868680"/>
          </a:xfrm>
          <a:prstGeom prst="rect">
            <a:avLst/>
          </a:prstGeom>
          <a:noFill/>
          <a:ln/>
        </p:spPr>
        <p:txBody>
          <a:bodyPr wrap="square" lIns="0" tIns="0" rIns="0" bIns="0" rtlCol="0" anchor="ctr"/>
          <a:lstStyle/>
          <a:p>
            <a:pPr marL="0" indent="0">
              <a:buNone/>
            </a:pPr>
            <a:r>
              <a:rPr lang="en-US" sz="1200" dirty="0">
                <a:solidFill>
                  <a:schemeClr val="accent6"/>
                </a:solidFill>
              </a:rPr>
              <a:t>test questions, incl. 10 paraphrased</a:t>
            </a:r>
            <a:endParaRPr lang="en-US" sz="1200" dirty="0"/>
          </a:p>
        </p:txBody>
      </p:sp>
      <p:sp>
        <p:nvSpPr>
          <p:cNvPr id="8" name="stat t"/>
          <p:cNvSpPr/>
          <p:nvPr/>
        </p:nvSpPr>
        <p:spPr>
          <a:xfrm>
            <a:off x="5943600" y="2286000"/>
            <a:ext cx="2743200" cy="1051560"/>
          </a:xfrm>
          <a:prstGeom prst="roundRect">
            <a:avLst>
              <a:gd name="adj" fmla="val 6957"/>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9" name="stat 17"/>
          <p:cNvSpPr txBox="1"/>
          <p:nvPr/>
        </p:nvSpPr>
        <p:spPr>
          <a:xfrm>
            <a:off x="6080760" y="2377440"/>
            <a:ext cx="1005840" cy="868680"/>
          </a:xfrm>
          <a:prstGeom prst="rect">
            <a:avLst/>
          </a:prstGeom>
          <a:noFill/>
          <a:ln/>
        </p:spPr>
        <p:txBody>
          <a:bodyPr wrap="square" lIns="0" tIns="0" rIns="0" bIns="0" rtlCol="0" anchor="ctr"/>
          <a:lstStyle/>
          <a:p>
            <a:pPr marL="0" indent="0">
              <a:buNone/>
            </a:pPr>
            <a:r>
              <a:rPr lang="en-US" sz="4000" b="1" dirty="0">
                <a:solidFill>
                  <a:schemeClr val="accent3"/>
                </a:solidFill>
                <a:latin typeface="Cambria" pitchFamily="34" charset="0"/>
                <a:ea typeface="Cambria" pitchFamily="34" charset="-122"/>
                <a:cs typeface="Cambria" pitchFamily="34" charset="-120"/>
              </a:rPr>
              <a:t>17</a:t>
            </a:r>
            <a:endParaRPr lang="en-US" sz="4000" dirty="0"/>
          </a:p>
        </p:txBody>
      </p:sp>
      <p:sp>
        <p:nvSpPr>
          <p:cNvPr id="10" name="stat 17 label"/>
          <p:cNvSpPr txBox="1"/>
          <p:nvPr/>
        </p:nvSpPr>
        <p:spPr>
          <a:xfrm>
            <a:off x="7040880" y="2377440"/>
            <a:ext cx="1554480" cy="868680"/>
          </a:xfrm>
          <a:prstGeom prst="rect">
            <a:avLst/>
          </a:prstGeom>
          <a:noFill/>
          <a:ln/>
        </p:spPr>
        <p:txBody>
          <a:bodyPr wrap="square" lIns="0" tIns="0" rIns="0" bIns="0" rtlCol="0" anchor="ctr"/>
          <a:lstStyle/>
          <a:p>
            <a:pPr marL="0" indent="0">
              <a:buNone/>
            </a:pPr>
            <a:r>
              <a:rPr lang="en-US" sz="1200" dirty="0">
                <a:solidFill>
                  <a:schemeClr val="accent6"/>
                </a:solidFill>
              </a:rPr>
              <a:t>automated tests, all passing</a:t>
            </a:r>
            <a:endParaRPr lang="en-US" sz="1200" dirty="0"/>
          </a:p>
        </p:txBody>
      </p:sp>
      <p:sp>
        <p:nvSpPr>
          <p:cNvPr id="11" name="Honesty card"/>
          <p:cNvSpPr/>
          <p:nvPr/>
        </p:nvSpPr>
        <p:spPr>
          <a:xfrm>
            <a:off x="5943600" y="3474720"/>
            <a:ext cx="2743200" cy="1097280"/>
          </a:xfrm>
          <a:prstGeom prst="roundRect">
            <a:avLst>
              <a:gd name="adj" fmla="val 6667"/>
            </a:avLst>
          </a:prstGeom>
          <a:solidFill>
            <a:schemeClr val="tx1"/>
          </a:solidFill>
          <a:ln w="12700">
            <a:solidFill>
              <a:schemeClr val="tx1"/>
            </a:solidFill>
            <a:prstDash val="solid"/>
          </a:ln>
        </p:spPr>
      </p:sp>
      <p:sp>
        <p:nvSpPr>
          <p:cNvPr id="12" name="Honesty text"/>
          <p:cNvSpPr txBox="1"/>
          <p:nvPr/>
        </p:nvSpPr>
        <p:spPr>
          <a:xfrm>
            <a:off x="6080760" y="3520440"/>
            <a:ext cx="2468880" cy="1005840"/>
          </a:xfrm>
          <a:prstGeom prst="rect">
            <a:avLst/>
          </a:prstGeom>
          <a:noFill/>
          <a:ln/>
        </p:spPr>
        <p:txBody>
          <a:bodyPr wrap="square" lIns="0" tIns="0" rIns="0" bIns="0" rtlCol="0" anchor="ctr"/>
          <a:lstStyle/>
          <a:p>
            <a:pPr marL="0" indent="0">
              <a:buNone/>
            </a:pPr>
            <a:r>
              <a:rPr lang="en-US" sz="1200" b="1" dirty="0">
                <a:solidFill>
                  <a:schemeClr val="accent1"/>
                </a:solidFill>
              </a:rPr>
              <a:t>One miss kept on purpose. </a:t>
            </a:r>
            <a:r>
              <a:rPr lang="en-US" sz="1200" dirty="0">
                <a:solidFill>
                  <a:schemeClr val="bg1"/>
                </a:solidFill>
              </a:rPr>
              <a:t>A paraphrase the word-matching search cannot see. Synthetic data: scores are optimistic.</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Responsible by design</a:t>
            </a:r>
            <a:endParaRPr lang="en-US" sz="3400" dirty="0"/>
          </a:p>
        </p:txBody>
      </p:sp>
      <p:sp>
        <p:nvSpPr>
          <p:cNvPr id="3" name="resp card 1"/>
          <p:cNvSpPr/>
          <p:nvPr/>
        </p:nvSpPr>
        <p:spPr>
          <a:xfrm>
            <a:off x="457200" y="1188720"/>
            <a:ext cx="4023360" cy="1554480"/>
          </a:xfrm>
          <a:prstGeom prst="roundRect">
            <a:avLst>
              <a:gd name="adj" fmla="val 4706"/>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4" name="Grounded circle"/>
          <p:cNvSpPr/>
          <p:nvPr/>
        </p:nvSpPr>
        <p:spPr>
          <a:xfrm>
            <a:off x="685800" y="1417320"/>
            <a:ext cx="594360" cy="594360"/>
          </a:xfrm>
          <a:prstGeom prst="ellipse">
            <a:avLst/>
          </a:prstGeom>
          <a:solidFill>
            <a:schemeClr val="accent3"/>
          </a:solidFill>
          <a:ln w="12700">
            <a:solidFill>
              <a:schemeClr val="accent3"/>
            </a:solidFill>
            <a:prstDash val="solid"/>
          </a:ln>
        </p:spPr>
      </p:sp>
      <p:pic>
        <p:nvPicPr>
          <p:cNvPr id="5" name="Grounded" descr="Grounded"/>
          <p:cNvPicPr>
            <a:picLocks noChangeAspect="1"/>
          </p:cNvPicPr>
          <p:nvPr/>
        </p:nvPicPr>
        <p:blipFill>
          <a:blip r:embed="rId3"/>
          <a:stretch>
            <a:fillRect/>
          </a:stretch>
        </p:blipFill>
        <p:spPr>
          <a:xfrm>
            <a:off x="834390" y="1565910"/>
            <a:ext cx="297180" cy="297180"/>
          </a:xfrm>
          <a:prstGeom prst="rect">
            <a:avLst/>
          </a:prstGeom>
        </p:spPr>
      </p:pic>
      <p:sp>
        <p:nvSpPr>
          <p:cNvPr id="6" name="resp head 1"/>
          <p:cNvSpPr txBox="1"/>
          <p:nvPr/>
        </p:nvSpPr>
        <p:spPr>
          <a:xfrm>
            <a:off x="1463040" y="1417320"/>
            <a:ext cx="2834640" cy="320040"/>
          </a:xfrm>
          <a:prstGeom prst="rect">
            <a:avLst/>
          </a:prstGeom>
          <a:noFill/>
          <a:ln/>
        </p:spPr>
        <p:txBody>
          <a:bodyPr wrap="square" lIns="0" tIns="0" rIns="0" bIns="0" rtlCol="0" anchor="ctr"/>
          <a:lstStyle/>
          <a:p>
            <a:pPr marL="0" indent="0">
              <a:buNone/>
            </a:pPr>
            <a:r>
              <a:rPr lang="en-US" sz="1800" b="1" dirty="0">
                <a:solidFill>
                  <a:schemeClr val="tx1"/>
                </a:solidFill>
              </a:rPr>
              <a:t>Grounded</a:t>
            </a:r>
            <a:endParaRPr lang="en-US" sz="1800" dirty="0"/>
          </a:p>
        </p:txBody>
      </p:sp>
      <p:sp>
        <p:nvSpPr>
          <p:cNvPr id="7" name="resp text 1"/>
          <p:cNvSpPr txBox="1"/>
          <p:nvPr/>
        </p:nvSpPr>
        <p:spPr>
          <a:xfrm>
            <a:off x="1463040" y="1810512"/>
            <a:ext cx="2834640" cy="822960"/>
          </a:xfrm>
          <a:prstGeom prst="rect">
            <a:avLst/>
          </a:prstGeom>
          <a:noFill/>
          <a:ln/>
        </p:spPr>
        <p:txBody>
          <a:bodyPr wrap="square" lIns="0" tIns="0" rIns="0" bIns="0" rtlCol="0" anchor="t"/>
          <a:lstStyle/>
          <a:p>
            <a:pPr marL="0" indent="0">
              <a:buNone/>
            </a:pPr>
            <a:r>
              <a:rPr lang="en-US" sz="1300" dirty="0">
                <a:solidFill>
                  <a:schemeClr val="accent6"/>
                </a:solidFill>
              </a:rPr>
              <a:t>Approved documents only, with a source on every statement.</a:t>
            </a:r>
            <a:endParaRPr lang="en-US" sz="1300" dirty="0"/>
          </a:p>
        </p:txBody>
      </p:sp>
      <p:sp>
        <p:nvSpPr>
          <p:cNvPr id="8" name="resp card 2"/>
          <p:cNvSpPr/>
          <p:nvPr/>
        </p:nvSpPr>
        <p:spPr>
          <a:xfrm>
            <a:off x="4663440" y="1188720"/>
            <a:ext cx="4023360" cy="1554480"/>
          </a:xfrm>
          <a:prstGeom prst="roundRect">
            <a:avLst>
              <a:gd name="adj" fmla="val 4706"/>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9" name="Private circle"/>
          <p:cNvSpPr/>
          <p:nvPr/>
        </p:nvSpPr>
        <p:spPr>
          <a:xfrm>
            <a:off x="4892040" y="1417320"/>
            <a:ext cx="594360" cy="594360"/>
          </a:xfrm>
          <a:prstGeom prst="ellipse">
            <a:avLst/>
          </a:prstGeom>
          <a:solidFill>
            <a:schemeClr val="accent3"/>
          </a:solidFill>
          <a:ln w="12700">
            <a:solidFill>
              <a:schemeClr val="accent3"/>
            </a:solidFill>
            <a:prstDash val="solid"/>
          </a:ln>
        </p:spPr>
      </p:sp>
      <p:pic>
        <p:nvPicPr>
          <p:cNvPr id="10" name="Private" descr="Private"/>
          <p:cNvPicPr>
            <a:picLocks noChangeAspect="1"/>
          </p:cNvPicPr>
          <p:nvPr/>
        </p:nvPicPr>
        <p:blipFill>
          <a:blip r:embed="rId4"/>
          <a:stretch>
            <a:fillRect/>
          </a:stretch>
        </p:blipFill>
        <p:spPr>
          <a:xfrm>
            <a:off x="5040630" y="1565910"/>
            <a:ext cx="297180" cy="297180"/>
          </a:xfrm>
          <a:prstGeom prst="rect">
            <a:avLst/>
          </a:prstGeom>
        </p:spPr>
      </p:pic>
      <p:sp>
        <p:nvSpPr>
          <p:cNvPr id="11" name="resp head 2"/>
          <p:cNvSpPr txBox="1"/>
          <p:nvPr/>
        </p:nvSpPr>
        <p:spPr>
          <a:xfrm>
            <a:off x="5669280" y="1417320"/>
            <a:ext cx="2834640" cy="320040"/>
          </a:xfrm>
          <a:prstGeom prst="rect">
            <a:avLst/>
          </a:prstGeom>
          <a:noFill/>
          <a:ln/>
        </p:spPr>
        <p:txBody>
          <a:bodyPr wrap="square" lIns="0" tIns="0" rIns="0" bIns="0" rtlCol="0" anchor="ctr"/>
          <a:lstStyle/>
          <a:p>
            <a:pPr marL="0" indent="0">
              <a:buNone/>
            </a:pPr>
            <a:r>
              <a:rPr lang="en-US" sz="1800" b="1" dirty="0">
                <a:solidFill>
                  <a:schemeClr val="tx1"/>
                </a:solidFill>
              </a:rPr>
              <a:t>Private</a:t>
            </a:r>
            <a:endParaRPr lang="en-US" sz="1800" dirty="0"/>
          </a:p>
        </p:txBody>
      </p:sp>
      <p:sp>
        <p:nvSpPr>
          <p:cNvPr id="12" name="resp text 2"/>
          <p:cNvSpPr txBox="1"/>
          <p:nvPr/>
        </p:nvSpPr>
        <p:spPr>
          <a:xfrm>
            <a:off x="5669280" y="1810512"/>
            <a:ext cx="2834640" cy="822960"/>
          </a:xfrm>
          <a:prstGeom prst="rect">
            <a:avLst/>
          </a:prstGeom>
          <a:noFill/>
          <a:ln/>
        </p:spPr>
        <p:txBody>
          <a:bodyPr wrap="square" lIns="0" tIns="0" rIns="0" bIns="0" rtlCol="0" anchor="t"/>
          <a:lstStyle/>
          <a:p>
            <a:pPr marL="0" indent="0">
              <a:buNone/>
            </a:pPr>
            <a:r>
              <a:rPr lang="en-US" sz="1300" dirty="0">
                <a:solidFill>
                  <a:schemeClr val="accent6"/>
                </a:solidFill>
              </a:rPr>
              <a:t>Runs on localhost. No cloud calls, no telemetry.</a:t>
            </a:r>
            <a:endParaRPr lang="en-US" sz="1300" dirty="0"/>
          </a:p>
        </p:txBody>
      </p:sp>
      <p:sp>
        <p:nvSpPr>
          <p:cNvPr id="13" name="resp card 3"/>
          <p:cNvSpPr/>
          <p:nvPr/>
        </p:nvSpPr>
        <p:spPr>
          <a:xfrm>
            <a:off x="457200" y="2926080"/>
            <a:ext cx="4023360" cy="1554480"/>
          </a:xfrm>
          <a:prstGeom prst="roundRect">
            <a:avLst>
              <a:gd name="adj" fmla="val 4706"/>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4" name="Access control circle"/>
          <p:cNvSpPr/>
          <p:nvPr/>
        </p:nvSpPr>
        <p:spPr>
          <a:xfrm>
            <a:off x="685800" y="3154680"/>
            <a:ext cx="594360" cy="594360"/>
          </a:xfrm>
          <a:prstGeom prst="ellipse">
            <a:avLst/>
          </a:prstGeom>
          <a:solidFill>
            <a:schemeClr val="accent3"/>
          </a:solidFill>
          <a:ln w="12700">
            <a:solidFill>
              <a:schemeClr val="accent3"/>
            </a:solidFill>
            <a:prstDash val="solid"/>
          </a:ln>
        </p:spPr>
      </p:sp>
      <p:pic>
        <p:nvPicPr>
          <p:cNvPr id="15" name="Access control" descr="Access control"/>
          <p:cNvPicPr>
            <a:picLocks noChangeAspect="1"/>
          </p:cNvPicPr>
          <p:nvPr/>
        </p:nvPicPr>
        <p:blipFill>
          <a:blip r:embed="rId5"/>
          <a:stretch>
            <a:fillRect/>
          </a:stretch>
        </p:blipFill>
        <p:spPr>
          <a:xfrm>
            <a:off x="834390" y="3303270"/>
            <a:ext cx="297180" cy="297180"/>
          </a:xfrm>
          <a:prstGeom prst="rect">
            <a:avLst/>
          </a:prstGeom>
        </p:spPr>
      </p:pic>
      <p:sp>
        <p:nvSpPr>
          <p:cNvPr id="16" name="resp head 3"/>
          <p:cNvSpPr txBox="1"/>
          <p:nvPr/>
        </p:nvSpPr>
        <p:spPr>
          <a:xfrm>
            <a:off x="1463040" y="3154680"/>
            <a:ext cx="2834640" cy="320040"/>
          </a:xfrm>
          <a:prstGeom prst="rect">
            <a:avLst/>
          </a:prstGeom>
          <a:noFill/>
          <a:ln/>
        </p:spPr>
        <p:txBody>
          <a:bodyPr wrap="square" lIns="0" tIns="0" rIns="0" bIns="0" rtlCol="0" anchor="ctr"/>
          <a:lstStyle/>
          <a:p>
            <a:pPr marL="0" indent="0">
              <a:buNone/>
            </a:pPr>
            <a:r>
              <a:rPr lang="en-US" sz="1800" b="1" dirty="0">
                <a:solidFill>
                  <a:schemeClr val="tx1"/>
                </a:solidFill>
              </a:rPr>
              <a:t>Access control</a:t>
            </a:r>
            <a:endParaRPr lang="en-US" sz="1800" dirty="0"/>
          </a:p>
        </p:txBody>
      </p:sp>
      <p:sp>
        <p:nvSpPr>
          <p:cNvPr id="17" name="resp text 3"/>
          <p:cNvSpPr txBox="1"/>
          <p:nvPr/>
        </p:nvSpPr>
        <p:spPr>
          <a:xfrm>
            <a:off x="1463040" y="3547872"/>
            <a:ext cx="2834640" cy="822960"/>
          </a:xfrm>
          <a:prstGeom prst="rect">
            <a:avLst/>
          </a:prstGeom>
          <a:noFill/>
          <a:ln/>
        </p:spPr>
        <p:txBody>
          <a:bodyPr wrap="square" lIns="0" tIns="0" rIns="0" bIns="0" rtlCol="0" anchor="t"/>
          <a:lstStyle/>
          <a:p>
            <a:pPr marL="0" indent="0">
              <a:buNone/>
            </a:pPr>
            <a:r>
              <a:rPr lang="en-US" sz="1300" dirty="0">
                <a:solidFill>
                  <a:schemeClr val="accent6"/>
                </a:solidFill>
              </a:rPr>
              <a:t>Roles, project isolation, upload validation, injection guard.</a:t>
            </a:r>
            <a:endParaRPr lang="en-US" sz="1300" dirty="0"/>
          </a:p>
        </p:txBody>
      </p:sp>
      <p:sp>
        <p:nvSpPr>
          <p:cNvPr id="18" name="resp card 4"/>
          <p:cNvSpPr/>
          <p:nvPr/>
        </p:nvSpPr>
        <p:spPr>
          <a:xfrm>
            <a:off x="4663440" y="2926080"/>
            <a:ext cx="4023360" cy="1554480"/>
          </a:xfrm>
          <a:prstGeom prst="roundRect">
            <a:avLst>
              <a:gd name="adj" fmla="val 4706"/>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19" name="Human in charge circle"/>
          <p:cNvSpPr/>
          <p:nvPr/>
        </p:nvSpPr>
        <p:spPr>
          <a:xfrm>
            <a:off x="4892040" y="3154680"/>
            <a:ext cx="594360" cy="594360"/>
          </a:xfrm>
          <a:prstGeom prst="ellipse">
            <a:avLst/>
          </a:prstGeom>
          <a:solidFill>
            <a:schemeClr val="accent3"/>
          </a:solidFill>
          <a:ln w="12700">
            <a:solidFill>
              <a:schemeClr val="accent3"/>
            </a:solidFill>
            <a:prstDash val="solid"/>
          </a:ln>
        </p:spPr>
      </p:sp>
      <p:pic>
        <p:nvPicPr>
          <p:cNvPr id="20" name="Human in charge" descr="Human in charge"/>
          <p:cNvPicPr>
            <a:picLocks noChangeAspect="1"/>
          </p:cNvPicPr>
          <p:nvPr/>
        </p:nvPicPr>
        <p:blipFill>
          <a:blip r:embed="rId6"/>
          <a:stretch>
            <a:fillRect/>
          </a:stretch>
        </p:blipFill>
        <p:spPr>
          <a:xfrm>
            <a:off x="5040630" y="3303270"/>
            <a:ext cx="297180" cy="297180"/>
          </a:xfrm>
          <a:prstGeom prst="rect">
            <a:avLst/>
          </a:prstGeom>
        </p:spPr>
      </p:pic>
      <p:sp>
        <p:nvSpPr>
          <p:cNvPr id="21" name="resp head 4"/>
          <p:cNvSpPr txBox="1"/>
          <p:nvPr/>
        </p:nvSpPr>
        <p:spPr>
          <a:xfrm>
            <a:off x="5669280" y="3154680"/>
            <a:ext cx="2834640" cy="320040"/>
          </a:xfrm>
          <a:prstGeom prst="rect">
            <a:avLst/>
          </a:prstGeom>
          <a:noFill/>
          <a:ln/>
        </p:spPr>
        <p:txBody>
          <a:bodyPr wrap="square" lIns="0" tIns="0" rIns="0" bIns="0" rtlCol="0" anchor="ctr"/>
          <a:lstStyle/>
          <a:p>
            <a:pPr marL="0" indent="0">
              <a:buNone/>
            </a:pPr>
            <a:r>
              <a:rPr lang="en-US" sz="1800" b="1" dirty="0">
                <a:solidFill>
                  <a:schemeClr val="tx1"/>
                </a:solidFill>
              </a:rPr>
              <a:t>Human in charge</a:t>
            </a:r>
            <a:endParaRPr lang="en-US" sz="1800" dirty="0"/>
          </a:p>
        </p:txBody>
      </p:sp>
      <p:sp>
        <p:nvSpPr>
          <p:cNvPr id="22" name="resp text 4"/>
          <p:cNvSpPr txBox="1"/>
          <p:nvPr/>
        </p:nvSpPr>
        <p:spPr>
          <a:xfrm>
            <a:off x="5669280" y="3547872"/>
            <a:ext cx="2834640" cy="822960"/>
          </a:xfrm>
          <a:prstGeom prst="rect">
            <a:avLst/>
          </a:prstGeom>
          <a:noFill/>
          <a:ln/>
        </p:spPr>
        <p:txBody>
          <a:bodyPr wrap="square" lIns="0" tIns="0" rIns="0" bIns="0" rtlCol="0" anchor="t"/>
          <a:lstStyle/>
          <a:p>
            <a:pPr marL="0" indent="0">
              <a:buNone/>
            </a:pPr>
            <a:r>
              <a:rPr lang="en-US" sz="1300" dirty="0">
                <a:solidFill>
                  <a:schemeClr val="accent6"/>
                </a:solidFill>
              </a:rPr>
              <a:t>Architects approve. Every action is in the audit trail.</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Limits and next steps</a:t>
            </a:r>
            <a:endParaRPr lang="en-US" sz="3400" dirty="0"/>
          </a:p>
        </p:txBody>
      </p:sp>
      <p:sp>
        <p:nvSpPr>
          <p:cNvPr id="3" name="col card 1"/>
          <p:cNvSpPr/>
          <p:nvPr/>
        </p:nvSpPr>
        <p:spPr>
          <a:xfrm>
            <a:off x="457200" y="1143000"/>
            <a:ext cx="4023360" cy="3429000"/>
          </a:xfrm>
          <a:prstGeom prst="roundRect">
            <a:avLst>
              <a:gd name="adj" fmla="val 2133"/>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4" name="Limitations circle"/>
          <p:cNvSpPr/>
          <p:nvPr/>
        </p:nvSpPr>
        <p:spPr>
          <a:xfrm>
            <a:off x="685800" y="1325880"/>
            <a:ext cx="548640" cy="548640"/>
          </a:xfrm>
          <a:prstGeom prst="ellipse">
            <a:avLst/>
          </a:prstGeom>
          <a:solidFill>
            <a:schemeClr val="accent4"/>
          </a:solidFill>
          <a:ln w="12700">
            <a:solidFill>
              <a:schemeClr val="accent4"/>
            </a:solidFill>
            <a:prstDash val="solid"/>
          </a:ln>
        </p:spPr>
      </p:sp>
      <p:pic>
        <p:nvPicPr>
          <p:cNvPr id="5" name="Limitations" descr="Limitations"/>
          <p:cNvPicPr>
            <a:picLocks noChangeAspect="1"/>
          </p:cNvPicPr>
          <p:nvPr/>
        </p:nvPicPr>
        <p:blipFill>
          <a:blip r:embed="rId3"/>
          <a:stretch>
            <a:fillRect/>
          </a:stretch>
        </p:blipFill>
        <p:spPr>
          <a:xfrm>
            <a:off x="822960" y="1463040"/>
            <a:ext cx="274320" cy="274320"/>
          </a:xfrm>
          <a:prstGeom prst="rect">
            <a:avLst/>
          </a:prstGeom>
        </p:spPr>
      </p:pic>
      <p:sp>
        <p:nvSpPr>
          <p:cNvPr id="6" name="col head 1"/>
          <p:cNvSpPr txBox="1"/>
          <p:nvPr/>
        </p:nvSpPr>
        <p:spPr>
          <a:xfrm>
            <a:off x="1417320" y="1325880"/>
            <a:ext cx="2834640" cy="5486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Limitations</a:t>
            </a:r>
            <a:endParaRPr lang="en-US" sz="2000" dirty="0"/>
          </a:p>
        </p:txBody>
      </p:sp>
      <p:sp>
        <p:nvSpPr>
          <p:cNvPr id="7" name="col list 1"/>
          <p:cNvSpPr txBox="1"/>
          <p:nvPr/>
        </p:nvSpPr>
        <p:spPr>
          <a:xfrm>
            <a:off x="731520" y="2148840"/>
            <a:ext cx="347472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Synthetic, templated documents</a:t>
            </a:r>
            <a:endParaRPr lang="en-US" sz="1600" dirty="0"/>
          </a:p>
          <a:p>
            <a:pPr marL="342900" indent="-342900">
              <a:spcAft>
                <a:spcPts val="1200"/>
              </a:spcAft>
              <a:buSzPct val="100000"/>
              <a:buChar char="•"/>
            </a:pPr>
            <a:r>
              <a:rPr lang="en-US" sz="1600" dirty="0">
                <a:solidFill>
                  <a:schemeClr val="tx1"/>
                </a:solidFill>
              </a:rPr>
              <a:t>No OCR; diagrams in PDFs are not read</a:t>
            </a:r>
            <a:endParaRPr lang="en-US" sz="1600" dirty="0"/>
          </a:p>
          <a:p>
            <a:pPr marL="342900" indent="-342900">
              <a:spcAft>
                <a:spcPts val="1200"/>
              </a:spcAft>
              <a:buSzPct val="100000"/>
              <a:buChar char="•"/>
            </a:pPr>
            <a:r>
              <a:rPr lang="en-US" sz="1600" dirty="0">
                <a:solidFill>
                  <a:schemeClr val="tx1"/>
                </a:solidFill>
              </a:rPr>
              <a:t>Word-matching embeddings miss paraphrases</a:t>
            </a:r>
            <a:endParaRPr lang="en-US" sz="1600" dirty="0"/>
          </a:p>
          <a:p>
            <a:pPr marL="342900" indent="-342900">
              <a:spcAft>
                <a:spcPts val="1200"/>
              </a:spcAft>
              <a:buSzPct val="100000"/>
              <a:buChar char="•"/>
            </a:pPr>
            <a:r>
              <a:rPr lang="en-US" sz="1600" dirty="0">
                <a:solidFill>
                  <a:schemeClr val="tx1"/>
                </a:solidFill>
              </a:rPr>
              <a:t>Demo-grade login; Docker and LLM mode not fully tested</a:t>
            </a:r>
            <a:endParaRPr lang="en-US" sz="1600" dirty="0"/>
          </a:p>
        </p:txBody>
      </p:sp>
      <p:sp>
        <p:nvSpPr>
          <p:cNvPr id="8" name="col card 2"/>
          <p:cNvSpPr/>
          <p:nvPr/>
        </p:nvSpPr>
        <p:spPr>
          <a:xfrm>
            <a:off x="4663440" y="1143000"/>
            <a:ext cx="4023360" cy="3429000"/>
          </a:xfrm>
          <a:prstGeom prst="roundRect">
            <a:avLst>
              <a:gd name="adj" fmla="val 2133"/>
            </a:avLst>
          </a:prstGeom>
          <a:solidFill>
            <a:schemeClr val="bg1"/>
          </a:solidFill>
          <a:ln w="12700">
            <a:solidFill>
              <a:schemeClr val="bg1"/>
            </a:solidFill>
            <a:prstDash val="solid"/>
          </a:ln>
          <a:effectLst>
            <a:outerShdw blurRad="101600" dist="25400" dir="5400000" algn="bl" rotWithShape="0">
              <a:srgbClr val="0E1A28">
                <a:alpha val="14000"/>
              </a:srgbClr>
            </a:outerShdw>
          </a:effectLst>
        </p:spPr>
      </p:sp>
      <p:sp>
        <p:nvSpPr>
          <p:cNvPr id="9" name="Next steps circle"/>
          <p:cNvSpPr/>
          <p:nvPr/>
        </p:nvSpPr>
        <p:spPr>
          <a:xfrm>
            <a:off x="4892040" y="1325880"/>
            <a:ext cx="548640" cy="548640"/>
          </a:xfrm>
          <a:prstGeom prst="ellipse">
            <a:avLst/>
          </a:prstGeom>
          <a:solidFill>
            <a:schemeClr val="accent2"/>
          </a:solidFill>
          <a:ln w="12700">
            <a:solidFill>
              <a:schemeClr val="accent2"/>
            </a:solidFill>
            <a:prstDash val="solid"/>
          </a:ln>
        </p:spPr>
      </p:sp>
      <p:pic>
        <p:nvPicPr>
          <p:cNvPr id="10" name="Next steps" descr="Next steps"/>
          <p:cNvPicPr>
            <a:picLocks noChangeAspect="1"/>
          </p:cNvPicPr>
          <p:nvPr/>
        </p:nvPicPr>
        <p:blipFill>
          <a:blip r:embed="rId4"/>
          <a:stretch>
            <a:fillRect/>
          </a:stretch>
        </p:blipFill>
        <p:spPr>
          <a:xfrm>
            <a:off x="5029200" y="1463040"/>
            <a:ext cx="274320" cy="274320"/>
          </a:xfrm>
          <a:prstGeom prst="rect">
            <a:avLst/>
          </a:prstGeom>
        </p:spPr>
      </p:pic>
      <p:sp>
        <p:nvSpPr>
          <p:cNvPr id="11" name="col head 2"/>
          <p:cNvSpPr txBox="1"/>
          <p:nvPr/>
        </p:nvSpPr>
        <p:spPr>
          <a:xfrm>
            <a:off x="5623560" y="1325880"/>
            <a:ext cx="2834640" cy="5486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Next steps</a:t>
            </a:r>
            <a:endParaRPr lang="en-US" sz="2000" dirty="0"/>
          </a:p>
        </p:txBody>
      </p:sp>
      <p:sp>
        <p:nvSpPr>
          <p:cNvPr id="12" name="col list 2"/>
          <p:cNvSpPr txBox="1"/>
          <p:nvPr/>
        </p:nvSpPr>
        <p:spPr>
          <a:xfrm>
            <a:off x="4937760" y="2148840"/>
            <a:ext cx="347472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BGE embeddings with FAISS and a re-ranker</a:t>
            </a:r>
            <a:endParaRPr lang="en-US" sz="1600" dirty="0"/>
          </a:p>
          <a:p>
            <a:pPr marL="342900" indent="-342900">
              <a:spcAft>
                <a:spcPts val="1200"/>
              </a:spcAft>
              <a:buSzPct val="100000"/>
              <a:buChar char="•"/>
            </a:pPr>
            <a:r>
              <a:rPr lang="en-US" sz="1600" dirty="0">
                <a:solidFill>
                  <a:schemeClr val="tx1"/>
                </a:solidFill>
              </a:rPr>
              <a:t>Real HLDs and an independent question set</a:t>
            </a:r>
            <a:endParaRPr lang="en-US" sz="1600" dirty="0"/>
          </a:p>
          <a:p>
            <a:pPr marL="342900" indent="-342900">
              <a:spcAft>
                <a:spcPts val="1200"/>
              </a:spcAft>
              <a:buSzPct val="100000"/>
              <a:buChar char="•"/>
            </a:pPr>
            <a:r>
              <a:rPr lang="en-US" sz="1600" dirty="0">
                <a:solidFill>
                  <a:schemeClr val="tx1"/>
                </a:solidFill>
              </a:rPr>
              <a:t>OCR and diagram understanding</a:t>
            </a:r>
            <a:endParaRPr lang="en-US" sz="1600" dirty="0"/>
          </a:p>
          <a:p>
            <a:pPr marL="342900" indent="-342900">
              <a:spcAft>
                <a:spcPts val="1200"/>
              </a:spcAft>
              <a:buSzPct val="100000"/>
              <a:buChar char="•"/>
            </a:pPr>
            <a:r>
              <a:rPr lang="en-US" sz="1600" dirty="0">
                <a:solidFill>
                  <a:schemeClr val="tx1"/>
                </a:solidFill>
              </a:rPr>
              <a:t>Link to safety and cybersecurity artifacts</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losing title"/>
          <p:cNvSpPr txBox="1"/>
          <p:nvPr/>
        </p:nvSpPr>
        <p:spPr>
          <a:xfrm>
            <a:off x="640080" y="822960"/>
            <a:ext cx="5486400" cy="822960"/>
          </a:xfrm>
          <a:prstGeom prst="rect">
            <a:avLst/>
          </a:prstGeom>
          <a:noFill/>
          <a:ln/>
        </p:spPr>
        <p:txBody>
          <a:bodyPr wrap="square" lIns="0" tIns="0" rIns="0" bIns="0" rtlCol="0" anchor="ctr"/>
          <a:lstStyle/>
          <a:p>
            <a:pPr marL="0" indent="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3" name="Closing question"/>
          <p:cNvSpPr txBox="1"/>
          <p:nvPr/>
        </p:nvSpPr>
        <p:spPr>
          <a:xfrm>
            <a:off x="640080" y="1645920"/>
            <a:ext cx="5486400" cy="457200"/>
          </a:xfrm>
          <a:prstGeom prst="rect">
            <a:avLst/>
          </a:prstGeom>
          <a:noFill/>
          <a:ln/>
        </p:spPr>
        <p:txBody>
          <a:bodyPr wrap="square" lIns="0" tIns="0" rIns="0" bIns="0" rtlCol="0" anchor="ctr"/>
          <a:lstStyle/>
          <a:p>
            <a:pPr marL="0" indent="0">
              <a:buNone/>
            </a:pPr>
            <a:r>
              <a:rPr lang="en-US" sz="2400" dirty="0">
                <a:solidFill>
                  <a:schemeClr val="accent1"/>
                </a:solidFill>
              </a:rPr>
              <a:t>Questions?</a:t>
            </a:r>
            <a:endParaRPr lang="en-US" sz="2400" dirty="0"/>
          </a:p>
        </p:txBody>
      </p:sp>
      <p:sp>
        <p:nvSpPr>
          <p:cNvPr id="4" name="Takeaways"/>
          <p:cNvSpPr txBox="1"/>
          <p:nvPr/>
        </p:nvSpPr>
        <p:spPr>
          <a:xfrm>
            <a:off x="640080" y="2560320"/>
            <a:ext cx="73152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2"/>
                </a:solidFill>
              </a:rPr>
              <a:t>Cited answers from approved documents only</a:t>
            </a:r>
            <a:endParaRPr lang="en-US" sz="1600" dirty="0"/>
          </a:p>
          <a:p>
            <a:pPr marL="342900" indent="-342900">
              <a:spcAft>
                <a:spcPts val="800"/>
              </a:spcAft>
              <a:buSzPct val="100000"/>
              <a:buChar char="•"/>
            </a:pPr>
            <a:r>
              <a:rPr lang="en-US" sz="1600" dirty="0">
                <a:solidFill>
                  <a:schemeClr val="bg2"/>
                </a:solidFill>
              </a:rPr>
              <a:t>Architecture inventory, checks and revision compare</a:t>
            </a:r>
            <a:endParaRPr lang="en-US" sz="1600" dirty="0"/>
          </a:p>
          <a:p>
            <a:pPr marL="342900" indent="-342900">
              <a:spcAft>
                <a:spcPts val="800"/>
              </a:spcAft>
              <a:buSzPct val="100000"/>
              <a:buChar char="•"/>
            </a:pPr>
            <a:r>
              <a:rPr lang="en-US" sz="1600" dirty="0">
                <a:solidFill>
                  <a:schemeClr val="bg2"/>
                </a:solidFill>
              </a:rPr>
              <a:t>Measured honestly: 97.3% pass, 12 of 12 defects, one failure kept</a:t>
            </a:r>
            <a:endParaRPr lang="en-US" sz="1600" dirty="0"/>
          </a:p>
        </p:txBody>
      </p:sp>
      <p:sp>
        <p:nvSpPr>
          <p:cNvPr id="5" name="Fallback note"/>
          <p:cNvSpPr txBox="1"/>
          <p:nvPr/>
        </p:nvSpPr>
        <p:spPr>
          <a:xfrm>
            <a:off x="640080" y="4297680"/>
            <a:ext cx="7315200" cy="274320"/>
          </a:xfrm>
          <a:prstGeom prst="rect">
            <a:avLst/>
          </a:prstGeom>
          <a:noFill/>
          <a:ln/>
        </p:spPr>
        <p:txBody>
          <a:bodyPr wrap="square" lIns="0" tIns="0" rIns="0" bIns="0" rtlCol="0" anchor="ctr"/>
          <a:lstStyle/>
          <a:p>
            <a:pPr marL="0" indent="0">
              <a:buNone/>
            </a:pPr>
            <a:r>
              <a:rPr lang="en-US" sz="1200" dirty="0">
                <a:solidFill>
                  <a:schemeClr val="bg2"/>
                </a:solidFill>
              </a:rPr>
              <a:t>Fallback evidence: demo video in the Video folder</a:t>
            </a:r>
            <a:endParaRPr lang="en-US" sz="1200" dirty="0"/>
          </a:p>
        </p:txBody>
      </p:sp>
    </p:spTree>
  </p:cSld>
  <p:clrMapOvr>
    <a:masterClrMapping/>
  </p:clrMapOvr>
</p:sld>
</file>

<file path=ppt/theme/theme1.xml><?xml version="1.0" encoding="utf-8"?>
<a:theme xmlns:a="http://schemas.openxmlformats.org/drawingml/2006/main" name="HLD Assistant">
  <a:themeElements>
    <a:clrScheme name="HLD Assistant">
      <a:dk1>
        <a:srgbClr val="0E1A28"/>
      </a:dk1>
      <a:lt1>
        <a:srgbClr val="FFFFFF"/>
      </a:lt1>
      <a:dk2>
        <a:srgbClr val="1F3A5F"/>
      </a:dk2>
      <a:lt2>
        <a:srgbClr val="EEF2F7"/>
      </a:lt2>
      <a:accent1>
        <a:srgbClr val="F2A900"/>
      </a:accent1>
      <a:accent2>
        <a:srgbClr val="1646C2"/>
      </a:accent2>
      <a:accent3>
        <a:srgbClr val="2B7A59"/>
      </a:accent3>
      <a:accent4>
        <a:srgbClr val="C42B2B"/>
      </a:accent4>
      <a:accent5>
        <a:srgbClr val="5B3FB4"/>
      </a:accent5>
      <a:accent6>
        <a:srgbClr val="5A6B7C"/>
      </a:accent6>
      <a:hlink>
        <a:srgbClr val="1646C2"/>
      </a:hlink>
      <a:folHlink>
        <a:srgbClr val="5B3FB4"/>
      </a:folHlink>
    </a:clrScheme>
    <a:fontScheme name="HLD Assista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1377</Words>
  <Application>Microsoft Office PowerPoint</Application>
  <PresentationFormat>On-screen Show (16:9)</PresentationFormat>
  <Paragraphs>146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HLD Assistant</vt:lpstr>
      <vt:lpstr>PowerPoint Presentation</vt:lpstr>
      <vt:lpstr>The problem</vt:lpstr>
      <vt:lpstr>What it does</vt:lpstr>
      <vt:lpstr>The knowledge base</vt:lpstr>
      <vt:lpstr>System architecture</vt:lpstr>
      <vt:lpstr>Indexing and answering</vt:lpstr>
      <vt:lpstr>How an answer is made</vt:lpstr>
      <vt:lpstr>Answers with proof</vt:lpstr>
      <vt:lpstr>Explore and check</vt:lpstr>
      <vt:lpstr>Evaluation results</vt:lpstr>
      <vt:lpstr>Responsible by design</vt:lpstr>
      <vt:lpstr>Limits and next steps</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HLD Assistant - AUTOSAR HLD Document Analysis (CS1)</dc:title>
  <dc:subject>PptxGenJS Presentation</dc:subject>
  <dc:creator>Student</dc:creator>
  <cp:lastModifiedBy>Microsoft account</cp:lastModifiedBy>
  <cp:revision>2</cp:revision>
  <dcterms:created xsi:type="dcterms:W3CDTF">2026-10-11T05:37:04Z</dcterms:created>
  <dcterms:modified xsi:type="dcterms:W3CDTF">2026-10-11T05:39:28Z</dcterms:modified>
</cp:coreProperties>
</file>